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78">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A09BCA-53BF-4F30-80C1-8356180722BC}">
  <a:tblStyle styleId="{64A09BCA-53BF-4F30-80C1-8356180722B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78"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9e470d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9e470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there was some element of luck involved in surviving, it seems some groups of people were more likely to survive than others. In our project, we aim to build a predictive model that answers the question: “what sorts of people were more likely to survive?” using passenger data (ie name, age, gender, socio-economic class, etc).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17c857b1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917c857b1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Datasets provided include passenger information like name, age, gender, socio-economic class, etc. Here is the outlook.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ebba6533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ebba6533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explanation of the variables</a:t>
            </a:r>
            <a:endParaRPr/>
          </a:p>
          <a:p>
            <a:pPr indent="0" lvl="0" marL="0" rtl="0" algn="l">
              <a:spcBef>
                <a:spcPts val="0"/>
              </a:spcBef>
              <a:spcAft>
                <a:spcPts val="0"/>
              </a:spcAft>
              <a:buNone/>
            </a:pPr>
            <a:r>
              <a:rPr lang="en"/>
              <a:t>Survival being 0 or 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ed8b6631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ed8b6631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ebba6533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ebba6533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Embarked is converted into three dummy variables (C, Q, S), each encoded as 0/1 so the model can use these categories numerically without implying any order.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f1635a37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f1635a37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later analysis, we will remove the Name, Ticket column. Given so many variables, it would be wise if we could eliminate some not so relevant variables before jumping to the logistic regression model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f1635a37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f1635a37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T</a:t>
            </a:r>
            <a:r>
              <a:rPr lang="en"/>
              <a:t>hese plots help us understand which passenger characteristics are associated with survival.</a:t>
            </a:r>
            <a:br>
              <a:rPr lang="en"/>
            </a:br>
            <a:r>
              <a:rPr lang="en"/>
              <a:t>First, the survival rate by sex shows a clear pattern: over 80% of females survived, compared to only about 12% of males. This </a:t>
            </a:r>
            <a:r>
              <a:rPr lang="en"/>
              <a:t>suggests</a:t>
            </a:r>
            <a:r>
              <a:rPr lang="en"/>
              <a:t> that gender could be one of the strongest determinants of survival on the Titanic.</a:t>
            </a:r>
            <a:br>
              <a:rPr lang="en"/>
            </a:br>
            <a:r>
              <a:rPr lang="en"/>
              <a:t>Next, when we group passengers by age, we see a more ambiguous pattern. Young children have the highest survival rates, but for adults the differences are much smaller and not strictly monotonic. This suggests that age alone may not be a strong linear predictor.</a:t>
            </a:r>
            <a:br>
              <a:rPr lang="en"/>
            </a:br>
            <a:r>
              <a:rPr lang="en"/>
              <a:t>On the right, we plot fare against age and color by survival outcome. We can see that survivors tend to cluster toward higher fares, reflecting the advantage of passengers from higher socioeconomic classes. However, within any given age group, survival appears mixed, again reinforcing that age may not a dominant driver.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ebba6533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ebba6533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oboto"/>
                <a:ea typeface="Roboto"/>
                <a:cs typeface="Roboto"/>
                <a:sym typeface="Roboto"/>
              </a:rPr>
              <a:t>A heatmap is simply a visual representation of the correlation coefficient matrix, where each color-shaded cell corresponds to the numerical correlation value between a pair of variables. Here, stronger correlations appear as colors closer to the extremes (deep red for strong positive, deep blue for strong negative), indicating a tighter relationship between the two variables compared. </a:t>
            </a:r>
            <a:endParaRPr sz="1200">
              <a:latin typeface="Roboto"/>
              <a:ea typeface="Roboto"/>
              <a:cs typeface="Roboto"/>
              <a:sym typeface="Roboto"/>
            </a:endParaRPr>
          </a:p>
          <a:p>
            <a:pPr indent="0" lvl="0" marL="0" rtl="0" algn="l">
              <a:lnSpc>
                <a:spcPct val="115000"/>
              </a:lnSpc>
              <a:spcBef>
                <a:spcPts val="1600"/>
              </a:spcBef>
              <a:spcAft>
                <a:spcPts val="0"/>
              </a:spcAft>
              <a:buNone/>
            </a:pPr>
            <a:r>
              <a:rPr b="1" lang="en">
                <a:solidFill>
                  <a:schemeClr val="dk1"/>
                </a:solidFill>
              </a:rPr>
              <a:t>Strong, clear predictors: </a:t>
            </a:r>
            <a:br>
              <a:rPr b="1" lang="en">
                <a:solidFill>
                  <a:schemeClr val="dk1"/>
                </a:solidFill>
              </a:rPr>
            </a:br>
            <a:r>
              <a:rPr b="1" lang="en">
                <a:solidFill>
                  <a:schemeClr val="dk1"/>
                </a:solidFill>
              </a:rPr>
              <a:t>Sex</a:t>
            </a:r>
            <a:r>
              <a:rPr lang="en">
                <a:solidFill>
                  <a:schemeClr val="dk1"/>
                </a:solidFill>
              </a:rPr>
              <a:t> shows the strongest relationship with survival (corr ≈ </a:t>
            </a:r>
            <a:r>
              <a:rPr b="1" lang="en">
                <a:solidFill>
                  <a:schemeClr val="dk1"/>
                </a:solidFill>
              </a:rPr>
              <a:t>–0.69</a:t>
            </a:r>
            <a:r>
              <a:rPr lang="en">
                <a:solidFill>
                  <a:schemeClr val="dk1"/>
                </a:solidFill>
              </a:rPr>
              <a:t>). </a:t>
            </a:r>
            <a:br>
              <a:rPr lang="en">
                <a:solidFill>
                  <a:schemeClr val="dk1"/>
                </a:solidFill>
              </a:rPr>
            </a:br>
            <a:r>
              <a:rPr b="1" lang="en">
                <a:solidFill>
                  <a:schemeClr val="dk1"/>
                </a:solidFill>
              </a:rPr>
              <a:t>Pclass</a:t>
            </a:r>
            <a:r>
              <a:rPr lang="en">
                <a:solidFill>
                  <a:schemeClr val="dk1"/>
                </a:solidFill>
              </a:rPr>
              <a:t> (–0.27) and </a:t>
            </a:r>
            <a:r>
              <a:rPr b="1" lang="en">
                <a:solidFill>
                  <a:schemeClr val="dk1"/>
                </a:solidFill>
              </a:rPr>
              <a:t>Fare</a:t>
            </a:r>
            <a:r>
              <a:rPr lang="en">
                <a:solidFill>
                  <a:schemeClr val="dk1"/>
                </a:solidFill>
              </a:rPr>
              <a:t> (0.23) also show consistent, interpretable effects.</a:t>
            </a:r>
            <a:endParaRPr>
              <a:solidFill>
                <a:schemeClr val="dk1"/>
              </a:solidFill>
            </a:endParaRPr>
          </a:p>
          <a:p>
            <a:pPr indent="0" lvl="0" marL="0" rtl="0" algn="l">
              <a:lnSpc>
                <a:spcPct val="115000"/>
              </a:lnSpc>
              <a:spcBef>
                <a:spcPts val="1600"/>
              </a:spcBef>
              <a:spcAft>
                <a:spcPts val="0"/>
              </a:spcAft>
              <a:buNone/>
            </a:pPr>
            <a:r>
              <a:rPr b="1" lang="en">
                <a:solidFill>
                  <a:schemeClr val="dk1"/>
                </a:solidFill>
              </a:rPr>
              <a:t>Ambiguous or weak linear relationships:</a:t>
            </a:r>
            <a:br>
              <a:rPr b="1" lang="en">
                <a:solidFill>
                  <a:schemeClr val="dk1"/>
                </a:solidFill>
              </a:rPr>
            </a:br>
            <a:r>
              <a:rPr b="1" lang="en">
                <a:solidFill>
                  <a:schemeClr val="dk1"/>
                </a:solidFill>
              </a:rPr>
              <a:t>Age</a:t>
            </a:r>
            <a:r>
              <a:rPr lang="en">
                <a:solidFill>
                  <a:schemeClr val="dk1"/>
                </a:solidFill>
              </a:rPr>
              <a:t> has a very small correlation (–0.05), likely masking nonlinear patterns (e.g., children vs adults).</a:t>
            </a:r>
            <a:br>
              <a:rPr lang="en">
                <a:solidFill>
                  <a:schemeClr val="dk1"/>
                </a:solidFill>
              </a:rPr>
            </a:br>
            <a:r>
              <a:rPr b="1" lang="en">
                <a:solidFill>
                  <a:schemeClr val="dk1"/>
                </a:solidFill>
              </a:rPr>
              <a:t>SibSp</a:t>
            </a:r>
            <a:r>
              <a:rPr lang="en">
                <a:solidFill>
                  <a:schemeClr val="dk1"/>
                </a:solidFill>
              </a:rPr>
              <a:t> and </a:t>
            </a:r>
            <a:r>
              <a:rPr b="1" lang="en">
                <a:solidFill>
                  <a:schemeClr val="dk1"/>
                </a:solidFill>
              </a:rPr>
              <a:t>Parch</a:t>
            </a:r>
            <a:r>
              <a:rPr lang="en">
                <a:solidFill>
                  <a:schemeClr val="dk1"/>
                </a:solidFill>
              </a:rPr>
              <a:t> show mixed signals: they correlate with each other but only weakly with survival, suggesting family size influences survival in complex ways.</a:t>
            </a:r>
            <a:endParaRPr>
              <a:solidFill>
                <a:schemeClr val="dk1"/>
              </a:solidFill>
            </a:endParaRPr>
          </a:p>
          <a:p>
            <a:pPr indent="0" lvl="0" marL="0" rtl="0" algn="l">
              <a:lnSpc>
                <a:spcPct val="115000"/>
              </a:lnSpc>
              <a:spcBef>
                <a:spcPts val="0"/>
              </a:spcBef>
              <a:spcAft>
                <a:spcPts val="0"/>
              </a:spcAft>
              <a:buNone/>
            </a:pPr>
            <a:r>
              <a:t/>
            </a:r>
            <a:endParaRPr b="1">
              <a:solidFill>
                <a:schemeClr val="dk1"/>
              </a:solidFill>
            </a:endParaRPr>
          </a:p>
          <a:p>
            <a:pPr indent="0" lvl="0" marL="0" rtl="0" algn="l">
              <a:lnSpc>
                <a:spcPct val="115000"/>
              </a:lnSpc>
              <a:spcBef>
                <a:spcPts val="0"/>
              </a:spcBef>
              <a:spcAft>
                <a:spcPts val="0"/>
              </a:spcAft>
              <a:buNone/>
            </a:pPr>
            <a:r>
              <a:rPr lang="en">
                <a:solidFill>
                  <a:schemeClr val="dk1"/>
                </a:solidFill>
              </a:rPr>
              <a:t>Strong correlations among the dummy variables (C,Q,S) reflect that a passenger can only belong to one port category. → remove ‘Q’</a:t>
            </a:r>
            <a:endParaRPr>
              <a:solidFill>
                <a:schemeClr val="dk1"/>
              </a:solidFill>
            </a:endParaRPr>
          </a:p>
          <a:p>
            <a:pPr indent="0" lvl="0" marL="0" rtl="0" algn="l">
              <a:lnSpc>
                <a:spcPct val="115000"/>
              </a:lnSpc>
              <a:spcBef>
                <a:spcPts val="0"/>
              </a:spcBef>
              <a:spcAft>
                <a:spcPts val="0"/>
              </a:spcAft>
              <a:buNone/>
            </a:pPr>
            <a:r>
              <a:rPr lang="en">
                <a:solidFill>
                  <a:schemeClr val="dk1"/>
                </a:solidFill>
              </a:rPr>
              <a:t>SibSp and Parch show mixed signals: they correlate with each other but weakly with survival, suggesting family size influences survival in complex ways. → statistical test to better decide whether we should </a:t>
            </a:r>
            <a:r>
              <a:rPr lang="en">
                <a:solidFill>
                  <a:schemeClr val="dk1"/>
                </a:solidFill>
              </a:rPr>
              <a:t>keep</a:t>
            </a:r>
            <a:r>
              <a:rPr lang="en">
                <a:solidFill>
                  <a:schemeClr val="dk1"/>
                </a:solidFill>
              </a:rPr>
              <a:t> or discard which variable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lang="en"/>
              <a:t>The heatmap highlights several meaningful relationships among key variables in the Titanic dataset:</a:t>
            </a:r>
            <a:endParaRPr/>
          </a:p>
          <a:p>
            <a:pPr indent="0" lvl="0" marL="0" rtl="0" algn="l">
              <a:lnSpc>
                <a:spcPct val="100000"/>
              </a:lnSpc>
              <a:spcBef>
                <a:spcPts val="1600"/>
              </a:spcBef>
              <a:spcAft>
                <a:spcPts val="0"/>
              </a:spcAft>
              <a:buNone/>
            </a:pPr>
            <a:r>
              <a:rPr lang="en"/>
              <a:t>Sex shows the strongest association with survival (corr ≈ –0.69), confirming that females had a much higher chance of surviving than males. </a:t>
            </a:r>
            <a:endParaRPr/>
          </a:p>
          <a:p>
            <a:pPr indent="0" lvl="0" marL="0" rtl="0" algn="l">
              <a:lnSpc>
                <a:spcPct val="100000"/>
              </a:lnSpc>
              <a:spcBef>
                <a:spcPts val="1600"/>
              </a:spcBef>
              <a:spcAft>
                <a:spcPts val="0"/>
              </a:spcAft>
              <a:buNone/>
            </a:pPr>
            <a:r>
              <a:rPr lang="en"/>
              <a:t>Fare is positively correlated with survival (corr ≈ 0.23), suggesting that passengers who paid more—typically those in higher classes—were more likely to survive. </a:t>
            </a:r>
            <a:endParaRPr/>
          </a:p>
          <a:p>
            <a:pPr indent="0" lvl="0" marL="0" rtl="0" algn="l">
              <a:lnSpc>
                <a:spcPct val="100000"/>
              </a:lnSpc>
              <a:spcBef>
                <a:spcPts val="1600"/>
              </a:spcBef>
              <a:spcAft>
                <a:spcPts val="0"/>
              </a:spcAft>
              <a:buNone/>
            </a:pPr>
            <a:r>
              <a:rPr lang="en"/>
              <a:t>Pclass is negatively correlated with survival (corr ≈ –0.26): lower-class passengers faced lower survival rates, reflecting structural inequalities in access to lifeboats. </a:t>
            </a:r>
            <a:endParaRPr/>
          </a:p>
          <a:p>
            <a:pPr indent="0" lvl="0" marL="0" rtl="0" algn="l">
              <a:lnSpc>
                <a:spcPct val="100000"/>
              </a:lnSpc>
              <a:spcBef>
                <a:spcPts val="1600"/>
              </a:spcBef>
              <a:spcAft>
                <a:spcPts val="0"/>
              </a:spcAft>
              <a:buNone/>
            </a:pPr>
            <a:r>
              <a:rPr lang="en"/>
              <a:t>Age shows almost no linear correlation with survival (corr ≈ –0.05), indicating that age alone is not a strong predictor without further interaction effects</a:t>
            </a:r>
            <a:r>
              <a:rPr lang="en"/>
              <a:t>. </a:t>
            </a:r>
            <a:endParaRPr/>
          </a:p>
          <a:p>
            <a:pPr indent="0" lvl="0" marL="0" rtl="0" algn="l">
              <a:lnSpc>
                <a:spcPct val="100000"/>
              </a:lnSpc>
              <a:spcBef>
                <a:spcPts val="1600"/>
              </a:spcBef>
              <a:spcAft>
                <a:spcPts val="1600"/>
              </a:spcAft>
              <a:buNone/>
            </a:pPr>
            <a:r>
              <a:rPr lang="en"/>
              <a:t>Mild correlations among family-size indicators (SibSp, Parch) suggest they contribute information but are not dominant drivers of survival.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17c857b1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17c857b1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f1635a37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f1635a37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f1635a379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f1635a37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c6f9e470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c6f9e47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17c857b1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17c857b1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choose </a:t>
            </a:r>
            <a:r>
              <a:rPr lang="en"/>
              <a:t>logistic</a:t>
            </a:r>
            <a:r>
              <a:rPr lang="en"/>
              <a:t> regression as we are just predicting a </a:t>
            </a:r>
            <a:r>
              <a:rPr lang="en"/>
              <a:t>binary</a:t>
            </a:r>
            <a:r>
              <a:rPr lang="en"/>
              <a:t> outcome - the passenger did or did not survive. With the </a:t>
            </a:r>
            <a:r>
              <a:rPr lang="en"/>
              <a:t>earlier</a:t>
            </a:r>
            <a:r>
              <a:rPr lang="en"/>
              <a:t> analysis of </a:t>
            </a:r>
            <a:r>
              <a:rPr lang="en"/>
              <a:t>correlation</a:t>
            </a:r>
            <a:r>
              <a:rPr lang="en"/>
              <a:t> and statistical tests, we decide to only include … these variables in the final model.The train-test split is at 80%-20%. Then fit the logistic regression model to the </a:t>
            </a:r>
            <a:r>
              <a:rPr lang="en"/>
              <a:t>training</a:t>
            </a:r>
            <a:r>
              <a:rPr lang="en"/>
              <a:t> set of data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ebba6533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ebba6533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f1635a379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f1635a37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2 graphs can help us visualize</a:t>
            </a:r>
            <a:r>
              <a:rPr lang="en"/>
              <a:t> how the logistic regression model learns those patterns and compares them to what we observe empirically.</a:t>
            </a:r>
            <a:endParaRPr/>
          </a:p>
          <a:p>
            <a:pPr indent="0" lvl="0" marL="0" rtl="0" algn="l">
              <a:spcBef>
                <a:spcPts val="0"/>
              </a:spcBef>
              <a:spcAft>
                <a:spcPts val="0"/>
              </a:spcAft>
              <a:buNone/>
            </a:pPr>
            <a:r>
              <a:rPr lang="en"/>
              <a:t>On the left, we fit a logistic curve directly to the actual data. The curve doesn’t perfectly follow an S-shape. We can see females have a much higher survival probability than males.</a:t>
            </a:r>
            <a:endParaRPr/>
          </a:p>
          <a:p>
            <a:pPr indent="0" lvl="0" marL="0" rtl="0" algn="l">
              <a:spcBef>
                <a:spcPts val="0"/>
              </a:spcBef>
              <a:spcAft>
                <a:spcPts val="0"/>
              </a:spcAft>
              <a:buNone/>
            </a:pPr>
            <a:r>
              <a:rPr lang="en"/>
              <a:t>On the right, we plot the model’s predicted relationship. Here, the logistic curve is much cleaner because it comes from the trained coefficients. It highlights how strongly the model separates the two groups: the predicted survival for females is close to 1, while for males it drops close to 0.</a:t>
            </a:r>
            <a:endParaRPr/>
          </a:p>
          <a:p>
            <a:pPr indent="0" lvl="0" marL="0" rtl="0" algn="l">
              <a:spcBef>
                <a:spcPts val="0"/>
              </a:spcBef>
              <a:spcAft>
                <a:spcPts val="0"/>
              </a:spcAft>
              <a:buNone/>
            </a:pPr>
            <a:r>
              <a:rPr lang="en"/>
              <a:t>Comparing both plots, we see that the model captures the underlying pattern in the data and amplifies it into a clear decision boundary.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f1635a37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af1635a37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Here we evaluate how well our logistic regression model performs on both the training set and the test set.</a:t>
            </a:r>
            <a:br>
              <a:rPr lang="en">
                <a:solidFill>
                  <a:schemeClr val="dk1"/>
                </a:solidFill>
              </a:rPr>
            </a:br>
            <a:r>
              <a:rPr lang="en">
                <a:solidFill>
                  <a:schemeClr val="dk1"/>
                </a:solidFill>
              </a:rPr>
              <a:t>On the training data, the model achieves about </a:t>
            </a:r>
            <a:r>
              <a:rPr b="1" lang="en">
                <a:solidFill>
                  <a:schemeClr val="dk1"/>
                </a:solidFill>
              </a:rPr>
              <a:t>86% accuracy</a:t>
            </a:r>
            <a:r>
              <a:rPr lang="en">
                <a:solidFill>
                  <a:schemeClr val="dk1"/>
                </a:solidFill>
              </a:rPr>
              <a:t>, and the precision–recall balance is quite strong for both classes. Importantly, the confusion matrix shows the model correctly identifies most non-survivors, with relatively few false positives or false negatives.</a:t>
            </a:r>
            <a:br>
              <a:rPr lang="en">
                <a:solidFill>
                  <a:schemeClr val="dk1"/>
                </a:solidFill>
              </a:rPr>
            </a:br>
            <a:r>
              <a:rPr lang="en">
                <a:solidFill>
                  <a:schemeClr val="dk1"/>
                </a:solidFill>
              </a:rPr>
              <a:t>On the test set, the accuracy remains high at </a:t>
            </a:r>
            <a:r>
              <a:rPr b="1" lang="en">
                <a:solidFill>
                  <a:schemeClr val="dk1"/>
                </a:solidFill>
              </a:rPr>
              <a:t>84%</a:t>
            </a:r>
            <a:r>
              <a:rPr lang="en">
                <a:solidFill>
                  <a:schemeClr val="dk1"/>
                </a:solidFill>
              </a:rPr>
              <a:t>, which is very close to the training performance. This tells us the model generalizes well and is not overfitting. The recall for survivors is slightly lower on the test set, meaning the model misses some actual survivors, but overall performance across both classes remains stable.</a:t>
            </a:r>
            <a:br>
              <a:rPr lang="en">
                <a:solidFill>
                  <a:schemeClr val="dk1"/>
                </a:solidFill>
              </a:rPr>
            </a:br>
            <a:r>
              <a:rPr lang="en">
                <a:solidFill>
                  <a:schemeClr val="dk1"/>
                </a:solidFill>
              </a:rPr>
              <a:t>The model performs consistently across training and testing, showing good predictive power and strong ability to generalize to new data.</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c6f9e470d_0_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c6f9e470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conclude, our investigation brings together exploratory analysis, statistical testing, and predictive modeling to understand survival patterns on the Titanic. The strongest signals emerge from gender and </a:t>
            </a:r>
            <a:r>
              <a:rPr lang="en"/>
              <a:t>socioeconomic</a:t>
            </a:r>
            <a:r>
              <a:rPr lang="en"/>
              <a:t> class. Our logistic model successfully learns these patterns and performs reliably out-of-sample. While we cannot draw causal conclusions from observational data, our findings </a:t>
            </a:r>
            <a:r>
              <a:rPr lang="en"/>
              <a:t>offer a d</a:t>
            </a:r>
            <a:r>
              <a:rPr lang="en"/>
              <a:t>ata-driven view of what shaped survival. 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t>Final Project - Titanic Survival Studies</a:t>
            </a:r>
            <a:endParaRPr sz="3600"/>
          </a:p>
        </p:txBody>
      </p:sp>
      <p:sp>
        <p:nvSpPr>
          <p:cNvPr id="86" name="Google Shape;86;p13"/>
          <p:cNvSpPr txBox="1"/>
          <p:nvPr>
            <p:ph idx="1" type="subTitle"/>
          </p:nvPr>
        </p:nvSpPr>
        <p:spPr>
          <a:xfrm>
            <a:off x="598100" y="2715931"/>
            <a:ext cx="8222100" cy="65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Kaiping Liu, Nick Zhu</a:t>
            </a:r>
            <a:endParaRPr sz="1600"/>
          </a:p>
          <a:p>
            <a:pPr indent="0" lvl="0" marL="0" rtl="0" algn="l">
              <a:spcBef>
                <a:spcPts val="0"/>
              </a:spcBef>
              <a:spcAft>
                <a:spcPts val="0"/>
              </a:spcAft>
              <a:buNone/>
            </a:pPr>
            <a:r>
              <a:rPr lang="en" sz="1600"/>
              <a:t>DS 100</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t>Table of Content</a:t>
            </a:r>
            <a:endParaRPr sz="3800"/>
          </a:p>
        </p:txBody>
      </p:sp>
      <p:sp>
        <p:nvSpPr>
          <p:cNvPr id="92" name="Google Shape;92;p14"/>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55600" lvl="0" marL="457200" rtl="0" algn="l">
              <a:spcBef>
                <a:spcPts val="0"/>
              </a:spcBef>
              <a:spcAft>
                <a:spcPts val="0"/>
              </a:spcAft>
              <a:buSzPts val="2000"/>
              <a:buAutoNum type="arabicPeriod"/>
            </a:pPr>
            <a:r>
              <a:rPr lang="en" sz="2000"/>
              <a:t>Dataset </a:t>
            </a:r>
            <a:r>
              <a:rPr lang="en" sz="2000"/>
              <a:t>Overview</a:t>
            </a:r>
            <a:endParaRPr sz="2000"/>
          </a:p>
          <a:p>
            <a:pPr indent="-355600" lvl="0" marL="457200" rtl="0" algn="l">
              <a:spcBef>
                <a:spcPts val="0"/>
              </a:spcBef>
              <a:spcAft>
                <a:spcPts val="0"/>
              </a:spcAft>
              <a:buSzPts val="2000"/>
              <a:buAutoNum type="arabicPeriod"/>
            </a:pPr>
            <a:r>
              <a:rPr lang="en" sz="2000"/>
              <a:t>Variable Relationship</a:t>
            </a:r>
            <a:endParaRPr sz="2000"/>
          </a:p>
          <a:p>
            <a:pPr indent="-355600" lvl="0" marL="457200" rtl="0" algn="l">
              <a:spcBef>
                <a:spcPts val="0"/>
              </a:spcBef>
              <a:spcAft>
                <a:spcPts val="0"/>
              </a:spcAft>
              <a:buSzPts val="2000"/>
              <a:buAutoNum type="arabicPeriod"/>
            </a:pPr>
            <a:r>
              <a:rPr lang="en" sz="2000"/>
              <a:t>Statistical Test</a:t>
            </a:r>
            <a:endParaRPr sz="2000"/>
          </a:p>
          <a:p>
            <a:pPr indent="-355600" lvl="0" marL="457200" rtl="0" algn="l">
              <a:spcBef>
                <a:spcPts val="0"/>
              </a:spcBef>
              <a:spcAft>
                <a:spcPts val="0"/>
              </a:spcAft>
              <a:buSzPts val="2000"/>
              <a:buAutoNum type="arabicPeriod"/>
            </a:pPr>
            <a:r>
              <a:rPr lang="en" sz="2000"/>
              <a:t>Causal Interpretation</a:t>
            </a:r>
            <a:endParaRPr sz="2000"/>
          </a:p>
          <a:p>
            <a:pPr indent="-355600" lvl="0" marL="457200" rtl="0" algn="l">
              <a:spcBef>
                <a:spcPts val="0"/>
              </a:spcBef>
              <a:spcAft>
                <a:spcPts val="0"/>
              </a:spcAft>
              <a:buSzPts val="2000"/>
              <a:buAutoNum type="arabicPeriod"/>
            </a:pPr>
            <a:r>
              <a:rPr lang="en" sz="2000"/>
              <a:t>Logistic Regression Model</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Overview</a:t>
            </a:r>
            <a:endParaRPr/>
          </a:p>
        </p:txBody>
      </p:sp>
      <p:pic>
        <p:nvPicPr>
          <p:cNvPr id="98" name="Google Shape;98;p15" title="Screenshot 2025-12-09 at 00.39.19.png"/>
          <p:cNvPicPr preferRelativeResize="0"/>
          <p:nvPr/>
        </p:nvPicPr>
        <p:blipFill rotWithShape="1">
          <a:blip r:embed="rId3">
            <a:alphaModFix/>
          </a:blip>
          <a:srcRect b="0" l="0" r="21402" t="0"/>
          <a:stretch/>
        </p:blipFill>
        <p:spPr>
          <a:xfrm>
            <a:off x="399689" y="1868246"/>
            <a:ext cx="8344627" cy="2664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graphicFrame>
        <p:nvGraphicFramePr>
          <p:cNvPr id="103" name="Google Shape;103;p16"/>
          <p:cNvGraphicFramePr/>
          <p:nvPr/>
        </p:nvGraphicFramePr>
        <p:xfrm>
          <a:off x="602075" y="-20550"/>
          <a:ext cx="3000000" cy="3000000"/>
        </p:xfrm>
        <a:graphic>
          <a:graphicData uri="http://schemas.openxmlformats.org/drawingml/2006/table">
            <a:tbl>
              <a:tblPr>
                <a:noFill/>
                <a:tableStyleId>{64A09BCA-53BF-4F30-80C1-8356180722BC}</a:tableStyleId>
              </a:tblPr>
              <a:tblGrid>
                <a:gridCol w="1130700"/>
                <a:gridCol w="2974625"/>
                <a:gridCol w="3834525"/>
              </a:tblGrid>
              <a:tr h="407525">
                <a:tc>
                  <a:txBody>
                    <a:bodyPr/>
                    <a:lstStyle/>
                    <a:p>
                      <a:pPr indent="0" lvl="0" marL="0" rtl="0" algn="l">
                        <a:lnSpc>
                          <a:spcPct val="100000"/>
                        </a:lnSpc>
                        <a:spcBef>
                          <a:spcPts val="0"/>
                        </a:spcBef>
                        <a:spcAft>
                          <a:spcPts val="0"/>
                        </a:spcAft>
                        <a:buNone/>
                      </a:pPr>
                      <a:r>
                        <a:rPr b="1" lang="en" sz="1000">
                          <a:solidFill>
                            <a:schemeClr val="dk1"/>
                          </a:solidFill>
                          <a:latin typeface="Roboto"/>
                          <a:ea typeface="Roboto"/>
                          <a:cs typeface="Roboto"/>
                          <a:sym typeface="Roboto"/>
                        </a:rPr>
                        <a:t>Variable</a:t>
                      </a:r>
                      <a:endParaRPr b="1" sz="1000">
                        <a:solidFill>
                          <a:schemeClr val="dk1"/>
                        </a:solidFill>
                        <a:latin typeface="Roboto"/>
                        <a:ea typeface="Roboto"/>
                        <a:cs typeface="Roboto"/>
                        <a:sym typeface="Roboto"/>
                      </a:endParaRPr>
                    </a:p>
                  </a:txBody>
                  <a:tcPr marT="152400" marB="152400" marR="152400" marL="152400" anchor="ctr">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1000">
                          <a:solidFill>
                            <a:schemeClr val="dk1"/>
                          </a:solidFill>
                          <a:latin typeface="Roboto"/>
                          <a:ea typeface="Roboto"/>
                          <a:cs typeface="Roboto"/>
                          <a:sym typeface="Roboto"/>
                        </a:rPr>
                        <a:t>Definition</a:t>
                      </a:r>
                      <a:endParaRPr b="1" sz="1000">
                        <a:solidFill>
                          <a:schemeClr val="dk1"/>
                        </a:solidFill>
                        <a:latin typeface="Roboto"/>
                        <a:ea typeface="Roboto"/>
                        <a:cs typeface="Roboto"/>
                        <a:sym typeface="Roboto"/>
                      </a:endParaRPr>
                    </a:p>
                  </a:txBody>
                  <a:tcPr marT="152400" marB="152400" marR="152400" marL="152400" anchor="ctr">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1000">
                          <a:solidFill>
                            <a:schemeClr val="dk1"/>
                          </a:solidFill>
                          <a:latin typeface="Roboto"/>
                          <a:ea typeface="Roboto"/>
                          <a:cs typeface="Roboto"/>
                          <a:sym typeface="Roboto"/>
                        </a:rPr>
                        <a:t>Key</a:t>
                      </a:r>
                      <a:endParaRPr b="1" sz="1000">
                        <a:solidFill>
                          <a:schemeClr val="dk1"/>
                        </a:solidFill>
                        <a:latin typeface="Roboto"/>
                        <a:ea typeface="Roboto"/>
                        <a:cs typeface="Roboto"/>
                        <a:sym typeface="Roboto"/>
                      </a:endParaRPr>
                    </a:p>
                  </a:txBody>
                  <a:tcPr marT="152400" marB="152400" marR="152400" marL="152400" anchor="ctr">
                    <a:lnB cap="flat" cmpd="sng" w="9525">
                      <a:solidFill>
                        <a:srgbClr val="DADCE0"/>
                      </a:solidFill>
                      <a:prstDash val="solid"/>
                      <a:round/>
                      <a:headEnd len="sm" w="sm" type="none"/>
                      <a:tailEnd len="sm" w="sm" type="none"/>
                    </a:lnB>
                  </a:tcPr>
                </a:tc>
              </a:tr>
              <a:tr h="355600">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survival</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Survival</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0 = No, 1 = Yes</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407525">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pclass</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Ticket class</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1 = 1st, 2 = 2nd, 3 = 3rd</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213875">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sex</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Sex</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t/>
                      </a:r>
                      <a:endParaRPr sz="1000">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457800">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Age</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Age in years</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t/>
                      </a:r>
                      <a:endParaRPr sz="1000">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457800">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sibsp</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 of siblings / spouses aboard the Titanic</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t/>
                      </a:r>
                      <a:endParaRPr sz="1000">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457800">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parch</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 of parents / children aboard the Titanic</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t/>
                      </a:r>
                      <a:endParaRPr sz="1000">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457800">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ticket</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Ticket number</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t/>
                      </a:r>
                      <a:endParaRPr sz="1000">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457800">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fare</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Passenger fare</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t/>
                      </a:r>
                      <a:endParaRPr sz="1000">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190650">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cabin</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Cabin number</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t/>
                      </a:r>
                      <a:endParaRPr sz="1000">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lnB cap="flat" cmpd="sng" w="9525">
                      <a:solidFill>
                        <a:srgbClr val="DADCE0"/>
                      </a:solidFill>
                      <a:prstDash val="solid"/>
                      <a:round/>
                      <a:headEnd len="sm" w="sm" type="none"/>
                      <a:tailEnd len="sm" w="sm" type="none"/>
                    </a:lnB>
                  </a:tcPr>
                </a:tc>
              </a:tr>
              <a:tr h="342450">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embarked</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Port of Embarkation</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tcPr>
                </a:tc>
                <a:tc>
                  <a:txBody>
                    <a:bodyPr/>
                    <a:lstStyle/>
                    <a:p>
                      <a:pPr indent="0" lvl="0" marL="0" rtl="0" algn="l">
                        <a:lnSpc>
                          <a:spcPct val="100000"/>
                        </a:lnSpc>
                        <a:spcBef>
                          <a:spcPts val="0"/>
                        </a:spcBef>
                        <a:spcAft>
                          <a:spcPts val="0"/>
                        </a:spcAft>
                        <a:buNone/>
                      </a:pPr>
                      <a:r>
                        <a:rPr lang="en" sz="1000">
                          <a:solidFill>
                            <a:srgbClr val="202124"/>
                          </a:solidFill>
                          <a:latin typeface="Roboto"/>
                          <a:ea typeface="Roboto"/>
                          <a:cs typeface="Roboto"/>
                          <a:sym typeface="Roboto"/>
                        </a:rPr>
                        <a:t>C = Cherbourg, Q = Queenstown, S = Southampton</a:t>
                      </a:r>
                      <a:endParaRPr sz="1000">
                        <a:solidFill>
                          <a:srgbClr val="202124"/>
                        </a:solidFill>
                        <a:latin typeface="Roboto"/>
                        <a:ea typeface="Roboto"/>
                        <a:cs typeface="Roboto"/>
                        <a:sym typeface="Roboto"/>
                      </a:endParaRPr>
                    </a:p>
                    <a:p>
                      <a:pPr indent="0" lvl="0" marL="0" rtl="0" algn="l">
                        <a:lnSpc>
                          <a:spcPct val="100000"/>
                        </a:lnSpc>
                        <a:spcBef>
                          <a:spcPts val="0"/>
                        </a:spcBef>
                        <a:spcAft>
                          <a:spcPts val="0"/>
                        </a:spcAft>
                        <a:buNone/>
                      </a:pPr>
                      <a:r>
                        <a:t/>
                      </a:r>
                      <a:endParaRPr sz="1000">
                        <a:solidFill>
                          <a:srgbClr val="202124"/>
                        </a:solidFill>
                        <a:latin typeface="Roboto"/>
                        <a:ea typeface="Roboto"/>
                        <a:cs typeface="Roboto"/>
                        <a:sym typeface="Roboto"/>
                      </a:endParaRPr>
                    </a:p>
                  </a:txBody>
                  <a:tcPr marT="152400" marB="152400" marR="152400" marL="152400" anchor="ctr">
                    <a:lnT cap="flat" cmpd="sng" w="9525">
                      <a:solidFill>
                        <a:srgbClr val="DADCE0"/>
                      </a:solidFill>
                      <a:prstDash val="solid"/>
                      <a:round/>
                      <a:headEnd len="sm" w="sm" type="none"/>
                      <a:tailEnd len="sm" w="sm" type="none"/>
                    </a:lnT>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 Missing Data and Cleaning</a:t>
            </a:r>
            <a:endParaRPr/>
          </a:p>
        </p:txBody>
      </p:sp>
      <p:sp>
        <p:nvSpPr>
          <p:cNvPr id="109" name="Google Shape;109;p17"/>
          <p:cNvSpPr txBox="1"/>
          <p:nvPr>
            <p:ph idx="2" type="body"/>
          </p:nvPr>
        </p:nvSpPr>
        <p:spPr>
          <a:xfrm>
            <a:off x="4929650" y="1089972"/>
            <a:ext cx="3914400" cy="447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b="1" lang="en">
                <a:solidFill>
                  <a:schemeClr val="dk1"/>
                </a:solidFill>
              </a:rPr>
              <a:t>Age</a:t>
            </a:r>
            <a:r>
              <a:rPr lang="en"/>
              <a:t>: 177 missing values (19.9% of data) </a:t>
            </a:r>
            <a:endParaRPr/>
          </a:p>
        </p:txBody>
      </p:sp>
      <p:pic>
        <p:nvPicPr>
          <p:cNvPr id="110" name="Google Shape;110;p17" title="Screenshot 2025-12-09 at 00.57.47.png"/>
          <p:cNvPicPr preferRelativeResize="0"/>
          <p:nvPr/>
        </p:nvPicPr>
        <p:blipFill rotWithShape="1">
          <a:blip r:embed="rId3">
            <a:alphaModFix/>
          </a:blip>
          <a:srcRect b="0" l="0" r="50627" t="2543"/>
          <a:stretch/>
        </p:blipFill>
        <p:spPr>
          <a:xfrm>
            <a:off x="311700" y="1089975"/>
            <a:ext cx="4427574" cy="3796776"/>
          </a:xfrm>
          <a:prstGeom prst="rect">
            <a:avLst/>
          </a:prstGeom>
          <a:noFill/>
          <a:ln>
            <a:noFill/>
          </a:ln>
        </p:spPr>
      </p:pic>
      <p:sp>
        <p:nvSpPr>
          <p:cNvPr id="111" name="Google Shape;111;p17"/>
          <p:cNvSpPr txBox="1"/>
          <p:nvPr>
            <p:ph idx="2" type="body"/>
          </p:nvPr>
        </p:nvSpPr>
        <p:spPr>
          <a:xfrm>
            <a:off x="4929650" y="3167266"/>
            <a:ext cx="3914400" cy="447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b="1" lang="en">
                <a:solidFill>
                  <a:schemeClr val="dk1"/>
                </a:solidFill>
              </a:rPr>
              <a:t>Cabin</a:t>
            </a:r>
            <a:r>
              <a:rPr lang="en"/>
              <a:t>: 687 missing values (77.1% of data)</a:t>
            </a:r>
            <a:endParaRPr/>
          </a:p>
        </p:txBody>
      </p:sp>
      <p:sp>
        <p:nvSpPr>
          <p:cNvPr id="112" name="Google Shape;112;p17"/>
          <p:cNvSpPr txBox="1"/>
          <p:nvPr>
            <p:ph idx="2" type="body"/>
          </p:nvPr>
        </p:nvSpPr>
        <p:spPr>
          <a:xfrm>
            <a:off x="4929650" y="4018881"/>
            <a:ext cx="3914400" cy="447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b="1" lang="en">
                <a:solidFill>
                  <a:schemeClr val="dk1"/>
                </a:solidFill>
              </a:rPr>
              <a:t>Embarked</a:t>
            </a:r>
            <a:r>
              <a:rPr lang="en"/>
              <a:t>: 2 missing values (0.2% of data)  </a:t>
            </a:r>
            <a:endParaRPr/>
          </a:p>
        </p:txBody>
      </p:sp>
      <p:sp>
        <p:nvSpPr>
          <p:cNvPr id="113" name="Google Shape;113;p17"/>
          <p:cNvSpPr txBox="1"/>
          <p:nvPr>
            <p:ph idx="2" type="body"/>
          </p:nvPr>
        </p:nvSpPr>
        <p:spPr>
          <a:xfrm>
            <a:off x="4929650" y="1515808"/>
            <a:ext cx="3914400" cy="6078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sz="1200">
                <a:solidFill>
                  <a:schemeClr val="lt1"/>
                </a:solidFill>
              </a:rPr>
              <a:t>Impute missing </a:t>
            </a:r>
            <a:r>
              <a:rPr b="1" lang="en" sz="1200">
                <a:solidFill>
                  <a:schemeClr val="lt1"/>
                </a:solidFill>
              </a:rPr>
              <a:t>Age</a:t>
            </a:r>
            <a:r>
              <a:rPr lang="en" sz="1200">
                <a:solidFill>
                  <a:schemeClr val="lt1"/>
                </a:solidFill>
              </a:rPr>
              <a:t> values using median age grouped by Pclass and Sex</a:t>
            </a:r>
            <a:endParaRPr sz="1200">
              <a:solidFill>
                <a:schemeClr val="lt1"/>
              </a:solidFill>
            </a:endParaRPr>
          </a:p>
        </p:txBody>
      </p:sp>
      <p:sp>
        <p:nvSpPr>
          <p:cNvPr id="114" name="Google Shape;114;p17"/>
          <p:cNvSpPr txBox="1"/>
          <p:nvPr>
            <p:ph idx="2" type="body"/>
          </p:nvPr>
        </p:nvSpPr>
        <p:spPr>
          <a:xfrm>
            <a:off x="4929650" y="3588668"/>
            <a:ext cx="3914400" cy="4470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sz="1200">
                <a:solidFill>
                  <a:schemeClr val="lt1"/>
                </a:solidFill>
              </a:rPr>
              <a:t>Drop the </a:t>
            </a:r>
            <a:r>
              <a:rPr b="1" lang="en" sz="1200">
                <a:solidFill>
                  <a:schemeClr val="lt1"/>
                </a:solidFill>
              </a:rPr>
              <a:t>Cabin</a:t>
            </a:r>
            <a:r>
              <a:rPr lang="en" sz="1200">
                <a:solidFill>
                  <a:schemeClr val="lt1"/>
                </a:solidFill>
              </a:rPr>
              <a:t> column due to excessive missing data</a:t>
            </a:r>
            <a:endParaRPr sz="1200">
              <a:solidFill>
                <a:schemeClr val="lt1"/>
              </a:solidFill>
            </a:endParaRPr>
          </a:p>
        </p:txBody>
      </p:sp>
      <p:sp>
        <p:nvSpPr>
          <p:cNvPr id="115" name="Google Shape;115;p17"/>
          <p:cNvSpPr txBox="1"/>
          <p:nvPr>
            <p:ph idx="2" type="body"/>
          </p:nvPr>
        </p:nvSpPr>
        <p:spPr>
          <a:xfrm>
            <a:off x="4929650" y="4434447"/>
            <a:ext cx="3914400" cy="4470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sz="1200">
                <a:solidFill>
                  <a:schemeClr val="lt1"/>
                </a:solidFill>
              </a:rPr>
              <a:t>Replaced with the mode value</a:t>
            </a:r>
            <a:endParaRPr sz="1200">
              <a:solidFill>
                <a:schemeClr val="lt1"/>
              </a:solidFill>
            </a:endParaRPr>
          </a:p>
        </p:txBody>
      </p:sp>
      <p:sp>
        <p:nvSpPr>
          <p:cNvPr id="116" name="Google Shape;116;p17"/>
          <p:cNvSpPr/>
          <p:nvPr/>
        </p:nvSpPr>
        <p:spPr>
          <a:xfrm>
            <a:off x="699500" y="3569475"/>
            <a:ext cx="1008900" cy="131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7" name="Google Shape;117;p17"/>
          <p:cNvCxnSpPr>
            <a:stCxn id="116" idx="3"/>
            <a:endCxn id="109" idx="1"/>
          </p:cNvCxnSpPr>
          <p:nvPr/>
        </p:nvCxnSpPr>
        <p:spPr>
          <a:xfrm flipH="1" rot="10800000">
            <a:off x="1708400" y="1313325"/>
            <a:ext cx="3221400" cy="2321700"/>
          </a:xfrm>
          <a:prstGeom prst="straightConnector1">
            <a:avLst/>
          </a:prstGeom>
          <a:noFill/>
          <a:ln cap="flat" cmpd="sng" w="9525">
            <a:solidFill>
              <a:schemeClr val="dk1"/>
            </a:solidFill>
            <a:prstDash val="solid"/>
            <a:round/>
            <a:headEnd len="med" w="med" type="none"/>
            <a:tailEnd len="med" w="med" type="none"/>
          </a:ln>
        </p:spPr>
      </p:cxnSp>
      <p:sp>
        <p:nvSpPr>
          <p:cNvPr id="118" name="Google Shape;118;p17"/>
          <p:cNvSpPr/>
          <p:nvPr/>
        </p:nvSpPr>
        <p:spPr>
          <a:xfrm>
            <a:off x="699500" y="4258061"/>
            <a:ext cx="952500" cy="131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9" name="Google Shape;119;p17"/>
          <p:cNvSpPr/>
          <p:nvPr/>
        </p:nvSpPr>
        <p:spPr>
          <a:xfrm>
            <a:off x="699500" y="4389161"/>
            <a:ext cx="1008900" cy="131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0" name="Google Shape;120;p17"/>
          <p:cNvCxnSpPr>
            <a:stCxn id="118" idx="3"/>
            <a:endCxn id="111" idx="1"/>
          </p:cNvCxnSpPr>
          <p:nvPr/>
        </p:nvCxnSpPr>
        <p:spPr>
          <a:xfrm flipH="1" rot="10800000">
            <a:off x="1652000" y="3390911"/>
            <a:ext cx="3277800" cy="932700"/>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17"/>
          <p:cNvCxnSpPr>
            <a:stCxn id="119" idx="3"/>
            <a:endCxn id="112" idx="1"/>
          </p:cNvCxnSpPr>
          <p:nvPr/>
        </p:nvCxnSpPr>
        <p:spPr>
          <a:xfrm flipH="1" rot="10800000">
            <a:off x="1708400" y="4242311"/>
            <a:ext cx="3221400" cy="212400"/>
          </a:xfrm>
          <a:prstGeom prst="straightConnector1">
            <a:avLst/>
          </a:prstGeom>
          <a:noFill/>
          <a:ln cap="flat" cmpd="sng" w="9525">
            <a:solidFill>
              <a:schemeClr val="dk1"/>
            </a:solidFill>
            <a:prstDash val="solid"/>
            <a:round/>
            <a:headEnd len="med" w="med" type="none"/>
            <a:tailEnd len="med" w="med" type="none"/>
          </a:ln>
        </p:spPr>
      </p:cxnSp>
      <p:sp>
        <p:nvSpPr>
          <p:cNvPr id="122" name="Google Shape;122;p17"/>
          <p:cNvSpPr/>
          <p:nvPr/>
        </p:nvSpPr>
        <p:spPr>
          <a:xfrm>
            <a:off x="699400" y="4127245"/>
            <a:ext cx="1008900" cy="131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3" name="Google Shape;123;p17"/>
          <p:cNvCxnSpPr>
            <a:stCxn id="122" idx="3"/>
            <a:endCxn id="124" idx="1"/>
          </p:cNvCxnSpPr>
          <p:nvPr/>
        </p:nvCxnSpPr>
        <p:spPr>
          <a:xfrm flipH="1" rot="10800000">
            <a:off x="1708300" y="2380495"/>
            <a:ext cx="3221400" cy="1812300"/>
          </a:xfrm>
          <a:prstGeom prst="straightConnector1">
            <a:avLst/>
          </a:prstGeom>
          <a:noFill/>
          <a:ln cap="flat" cmpd="sng" w="9525">
            <a:solidFill>
              <a:schemeClr val="dk1"/>
            </a:solidFill>
            <a:prstDash val="solid"/>
            <a:round/>
            <a:headEnd len="med" w="med" type="none"/>
            <a:tailEnd len="med" w="med" type="none"/>
          </a:ln>
        </p:spPr>
      </p:cxnSp>
      <p:sp>
        <p:nvSpPr>
          <p:cNvPr id="124" name="Google Shape;124;p17"/>
          <p:cNvSpPr txBox="1"/>
          <p:nvPr>
            <p:ph idx="2" type="body"/>
          </p:nvPr>
        </p:nvSpPr>
        <p:spPr>
          <a:xfrm>
            <a:off x="4929650" y="2157115"/>
            <a:ext cx="3914400" cy="447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b="1" lang="en">
                <a:solidFill>
                  <a:schemeClr val="dk1"/>
                </a:solidFill>
              </a:rPr>
              <a:t>Fare</a:t>
            </a:r>
            <a:r>
              <a:rPr lang="en"/>
              <a:t>: 1 missing value (~0.00% of data)</a:t>
            </a:r>
            <a:endParaRPr/>
          </a:p>
        </p:txBody>
      </p:sp>
      <p:sp>
        <p:nvSpPr>
          <p:cNvPr id="125" name="Google Shape;125;p17"/>
          <p:cNvSpPr txBox="1"/>
          <p:nvPr>
            <p:ph idx="2" type="body"/>
          </p:nvPr>
        </p:nvSpPr>
        <p:spPr>
          <a:xfrm>
            <a:off x="4929650" y="2572542"/>
            <a:ext cx="3914400" cy="6078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sz="1200">
                <a:solidFill>
                  <a:schemeClr val="lt1"/>
                </a:solidFill>
              </a:rPr>
              <a:t>Impute missing </a:t>
            </a:r>
            <a:r>
              <a:rPr b="1" lang="en" sz="1200">
                <a:solidFill>
                  <a:schemeClr val="lt1"/>
                </a:solidFill>
              </a:rPr>
              <a:t>Fare</a:t>
            </a:r>
            <a:r>
              <a:rPr lang="en" sz="1200">
                <a:solidFill>
                  <a:schemeClr val="lt1"/>
                </a:solidFill>
              </a:rPr>
              <a:t> value using median fare grouped by Pclass </a:t>
            </a:r>
            <a:endParaRPr sz="12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 Missing Data and Cleaning</a:t>
            </a:r>
            <a:endParaRPr/>
          </a:p>
        </p:txBody>
      </p:sp>
      <p:pic>
        <p:nvPicPr>
          <p:cNvPr id="131" name="Google Shape;131;p18" title="Screenshot 2025-12-09 at 00.57.47.png"/>
          <p:cNvPicPr preferRelativeResize="0"/>
          <p:nvPr/>
        </p:nvPicPr>
        <p:blipFill rotWithShape="1">
          <a:blip r:embed="rId3">
            <a:alphaModFix/>
          </a:blip>
          <a:srcRect b="0" l="0" r="50627" t="2543"/>
          <a:stretch/>
        </p:blipFill>
        <p:spPr>
          <a:xfrm>
            <a:off x="311700" y="1085125"/>
            <a:ext cx="4427574" cy="3801626"/>
          </a:xfrm>
          <a:prstGeom prst="rect">
            <a:avLst/>
          </a:prstGeom>
          <a:noFill/>
          <a:ln>
            <a:noFill/>
          </a:ln>
        </p:spPr>
      </p:pic>
      <p:sp>
        <p:nvSpPr>
          <p:cNvPr id="132" name="Google Shape;132;p18"/>
          <p:cNvSpPr/>
          <p:nvPr/>
        </p:nvSpPr>
        <p:spPr>
          <a:xfrm>
            <a:off x="429550" y="3404935"/>
            <a:ext cx="2521200" cy="1503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3" name="Google Shape;133;p18"/>
          <p:cNvSpPr/>
          <p:nvPr/>
        </p:nvSpPr>
        <p:spPr>
          <a:xfrm>
            <a:off x="429550" y="4371874"/>
            <a:ext cx="2521200" cy="1503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4" name="Google Shape;134;p18"/>
          <p:cNvCxnSpPr>
            <a:stCxn id="132" idx="3"/>
            <a:endCxn id="135" idx="1"/>
          </p:cNvCxnSpPr>
          <p:nvPr/>
        </p:nvCxnSpPr>
        <p:spPr>
          <a:xfrm flipH="1" rot="10800000">
            <a:off x="2950750" y="2145685"/>
            <a:ext cx="1967100" cy="1334400"/>
          </a:xfrm>
          <a:prstGeom prst="straightConnector1">
            <a:avLst/>
          </a:prstGeom>
          <a:noFill/>
          <a:ln cap="flat" cmpd="sng" w="9525">
            <a:solidFill>
              <a:schemeClr val="accent3"/>
            </a:solidFill>
            <a:prstDash val="solid"/>
            <a:round/>
            <a:headEnd len="med" w="med" type="none"/>
            <a:tailEnd len="med" w="med" type="none"/>
          </a:ln>
        </p:spPr>
      </p:cxnSp>
      <p:sp>
        <p:nvSpPr>
          <p:cNvPr id="135" name="Google Shape;135;p18"/>
          <p:cNvSpPr txBox="1"/>
          <p:nvPr>
            <p:ph idx="2" type="body"/>
          </p:nvPr>
        </p:nvSpPr>
        <p:spPr>
          <a:xfrm>
            <a:off x="4917900" y="1922230"/>
            <a:ext cx="3914400" cy="447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b="1" lang="en">
                <a:solidFill>
                  <a:schemeClr val="accent3"/>
                </a:solidFill>
              </a:rPr>
              <a:t>Sex</a:t>
            </a:r>
            <a:r>
              <a:rPr lang="en"/>
              <a:t>: object → int </a:t>
            </a:r>
            <a:endParaRPr/>
          </a:p>
        </p:txBody>
      </p:sp>
      <p:sp>
        <p:nvSpPr>
          <p:cNvPr id="136" name="Google Shape;136;p18"/>
          <p:cNvSpPr txBox="1"/>
          <p:nvPr>
            <p:ph idx="2" type="body"/>
          </p:nvPr>
        </p:nvSpPr>
        <p:spPr>
          <a:xfrm>
            <a:off x="4917900" y="2369230"/>
            <a:ext cx="3914400" cy="447000"/>
          </a:xfrm>
          <a:prstGeom prst="rect">
            <a:avLst/>
          </a:prstGeom>
          <a:solidFill>
            <a:srgbClr val="C27BA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a:solidFill>
                  <a:schemeClr val="lt1"/>
                </a:solidFill>
              </a:rPr>
              <a:t>Male = 1, Female = 0</a:t>
            </a:r>
            <a:endParaRPr>
              <a:solidFill>
                <a:schemeClr val="lt1"/>
              </a:solidFill>
            </a:endParaRPr>
          </a:p>
        </p:txBody>
      </p:sp>
      <p:cxnSp>
        <p:nvCxnSpPr>
          <p:cNvPr id="137" name="Google Shape;137;p18"/>
          <p:cNvCxnSpPr>
            <a:stCxn id="133" idx="3"/>
            <a:endCxn id="138" idx="1"/>
          </p:cNvCxnSpPr>
          <p:nvPr/>
        </p:nvCxnSpPr>
        <p:spPr>
          <a:xfrm flipH="1" rot="10800000">
            <a:off x="2950750" y="3480424"/>
            <a:ext cx="1967100" cy="966600"/>
          </a:xfrm>
          <a:prstGeom prst="straightConnector1">
            <a:avLst/>
          </a:prstGeom>
          <a:noFill/>
          <a:ln cap="flat" cmpd="sng" w="9525">
            <a:solidFill>
              <a:schemeClr val="accent3"/>
            </a:solidFill>
            <a:prstDash val="solid"/>
            <a:round/>
            <a:headEnd len="med" w="med" type="none"/>
            <a:tailEnd len="med" w="med" type="none"/>
          </a:ln>
        </p:spPr>
      </p:cxnSp>
      <p:sp>
        <p:nvSpPr>
          <p:cNvPr id="138" name="Google Shape;138;p18"/>
          <p:cNvSpPr txBox="1"/>
          <p:nvPr>
            <p:ph idx="2" type="body"/>
          </p:nvPr>
        </p:nvSpPr>
        <p:spPr>
          <a:xfrm>
            <a:off x="4917900" y="3256831"/>
            <a:ext cx="3914400" cy="447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b="1" lang="en">
                <a:solidFill>
                  <a:schemeClr val="accent3"/>
                </a:solidFill>
              </a:rPr>
              <a:t>Embarked</a:t>
            </a:r>
            <a:r>
              <a:rPr lang="en"/>
              <a:t>: object “C”, “Q”, “S”→ boolean → int</a:t>
            </a:r>
            <a:endParaRPr/>
          </a:p>
        </p:txBody>
      </p:sp>
      <p:sp>
        <p:nvSpPr>
          <p:cNvPr id="139" name="Google Shape;139;p18"/>
          <p:cNvSpPr txBox="1"/>
          <p:nvPr>
            <p:ph idx="2" type="body"/>
          </p:nvPr>
        </p:nvSpPr>
        <p:spPr>
          <a:xfrm>
            <a:off x="4917900" y="3703826"/>
            <a:ext cx="3914400" cy="649200"/>
          </a:xfrm>
          <a:prstGeom prst="rect">
            <a:avLst/>
          </a:prstGeom>
          <a:solidFill>
            <a:srgbClr val="C27BA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a:solidFill>
                  <a:schemeClr val="lt1"/>
                </a:solidFill>
              </a:rPr>
              <a:t>Embarked is converted into three dummy variables (C, Q, S), each encoded as 0/1</a:t>
            </a:r>
            <a:endParaRPr>
              <a:solidFill>
                <a:schemeClr val="lt1"/>
              </a:solidFill>
            </a:endParaRPr>
          </a:p>
        </p:txBody>
      </p:sp>
      <p:sp>
        <p:nvSpPr>
          <p:cNvPr id="140" name="Google Shape;140;p18"/>
          <p:cNvSpPr txBox="1"/>
          <p:nvPr>
            <p:ph idx="2" type="body"/>
          </p:nvPr>
        </p:nvSpPr>
        <p:spPr>
          <a:xfrm>
            <a:off x="4917900" y="1229977"/>
            <a:ext cx="3914400" cy="44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b="1" lang="en">
                <a:solidFill>
                  <a:schemeClr val="accent3"/>
                </a:solidFill>
              </a:rPr>
              <a:t>For categorical data:</a:t>
            </a:r>
            <a:endParaRPr b="1">
              <a:solidFill>
                <a:schemeClr val="accent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Overview</a:t>
            </a:r>
            <a:endParaRPr/>
          </a:p>
        </p:txBody>
      </p:sp>
      <p:pic>
        <p:nvPicPr>
          <p:cNvPr id="146" name="Google Shape;146;p19" title="Screenshot 2025-12-09 at 16.33.25.png"/>
          <p:cNvPicPr preferRelativeResize="0"/>
          <p:nvPr/>
        </p:nvPicPr>
        <p:blipFill rotWithShape="1">
          <a:blip r:embed="rId3">
            <a:alphaModFix/>
          </a:blip>
          <a:srcRect b="0" l="0" r="3605" t="0"/>
          <a:stretch/>
        </p:blipFill>
        <p:spPr>
          <a:xfrm>
            <a:off x="232050" y="1586200"/>
            <a:ext cx="8600248" cy="1584748"/>
          </a:xfrm>
          <a:prstGeom prst="rect">
            <a:avLst/>
          </a:prstGeom>
          <a:noFill/>
          <a:ln>
            <a:noFill/>
          </a:ln>
        </p:spPr>
      </p:pic>
      <p:sp>
        <p:nvSpPr>
          <p:cNvPr id="147" name="Google Shape;147;p19"/>
          <p:cNvSpPr/>
          <p:nvPr/>
        </p:nvSpPr>
        <p:spPr>
          <a:xfrm>
            <a:off x="7639600" y="1586200"/>
            <a:ext cx="1225200" cy="1902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0" title="Screenshot 2025-12-09 at 19.14.38.png"/>
          <p:cNvPicPr preferRelativeResize="0"/>
          <p:nvPr/>
        </p:nvPicPr>
        <p:blipFill>
          <a:blip r:embed="rId3">
            <a:alphaModFix/>
          </a:blip>
          <a:stretch>
            <a:fillRect/>
          </a:stretch>
        </p:blipFill>
        <p:spPr>
          <a:xfrm>
            <a:off x="4347825" y="855825"/>
            <a:ext cx="4267201" cy="3431850"/>
          </a:xfrm>
          <a:prstGeom prst="rect">
            <a:avLst/>
          </a:prstGeom>
          <a:noFill/>
          <a:ln>
            <a:noFill/>
          </a:ln>
        </p:spPr>
      </p:pic>
      <p:pic>
        <p:nvPicPr>
          <p:cNvPr id="153" name="Google Shape;153;p20" title="Screenshot 2025-12-09 at 19.20.40.png"/>
          <p:cNvPicPr preferRelativeResize="0"/>
          <p:nvPr/>
        </p:nvPicPr>
        <p:blipFill>
          <a:blip r:embed="rId4">
            <a:alphaModFix/>
          </a:blip>
          <a:stretch>
            <a:fillRect/>
          </a:stretch>
        </p:blipFill>
        <p:spPr>
          <a:xfrm>
            <a:off x="606500" y="152400"/>
            <a:ext cx="3535776" cy="48387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 Relationship </a:t>
            </a:r>
            <a:endParaRPr/>
          </a:p>
        </p:txBody>
      </p:sp>
      <p:sp>
        <p:nvSpPr>
          <p:cNvPr id="159" name="Google Shape;159;p21"/>
          <p:cNvSpPr txBox="1"/>
          <p:nvPr>
            <p:ph idx="4294967295" type="body"/>
          </p:nvPr>
        </p:nvSpPr>
        <p:spPr>
          <a:xfrm>
            <a:off x="311700" y="954300"/>
            <a:ext cx="4016100" cy="31089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t>The heatmap highlights several meaningful relationships among key variables in the dataset:</a:t>
            </a:r>
            <a:endParaRPr sz="1200"/>
          </a:p>
          <a:p>
            <a:pPr indent="-213359" lvl="0" marL="274320" rtl="0" algn="l">
              <a:spcBef>
                <a:spcPts val="1600"/>
              </a:spcBef>
              <a:spcAft>
                <a:spcPts val="0"/>
              </a:spcAft>
              <a:buSzPts val="1200"/>
              <a:buChar char="●"/>
            </a:pPr>
            <a:r>
              <a:rPr b="1" lang="en" sz="1200"/>
              <a:t>Strong, clear predictors:</a:t>
            </a:r>
            <a:endParaRPr b="1" sz="1200"/>
          </a:p>
          <a:p>
            <a:pPr indent="-213359" lvl="1" marL="548640" rtl="0" algn="l">
              <a:spcBef>
                <a:spcPts val="0"/>
              </a:spcBef>
              <a:spcAft>
                <a:spcPts val="0"/>
              </a:spcAft>
              <a:buSzPts val="1200"/>
              <a:buChar char="○"/>
            </a:pPr>
            <a:r>
              <a:rPr b="1" lang="en" sz="1200"/>
              <a:t>Sex_num</a:t>
            </a:r>
            <a:r>
              <a:rPr lang="en" sz="1200"/>
              <a:t> shows the strongest association with survival (corr ≈ –0.688</a:t>
            </a:r>
            <a:r>
              <a:rPr lang="en" sz="1200"/>
              <a:t>)</a:t>
            </a:r>
            <a:endParaRPr sz="1200"/>
          </a:p>
          <a:p>
            <a:pPr indent="-213359" lvl="1" marL="548640" rtl="0" algn="l">
              <a:spcBef>
                <a:spcPts val="0"/>
              </a:spcBef>
              <a:spcAft>
                <a:spcPts val="0"/>
              </a:spcAft>
              <a:buSzPts val="1200"/>
              <a:buChar char="○"/>
            </a:pPr>
            <a:r>
              <a:rPr b="1" lang="en" sz="1200"/>
              <a:t>Fare</a:t>
            </a:r>
            <a:r>
              <a:rPr lang="en" sz="1200"/>
              <a:t> </a:t>
            </a:r>
            <a:r>
              <a:rPr lang="en" sz="1200"/>
              <a:t>(corr ≈ 0.232) </a:t>
            </a:r>
            <a:r>
              <a:rPr lang="en" sz="1200"/>
              <a:t>and </a:t>
            </a:r>
            <a:r>
              <a:rPr b="1" lang="en" sz="1200"/>
              <a:t>Pclass </a:t>
            </a:r>
            <a:r>
              <a:rPr lang="en" sz="1200"/>
              <a:t>(corr ≈ –0.262)</a:t>
            </a:r>
            <a:br>
              <a:rPr lang="en" sz="1200"/>
            </a:br>
            <a:endParaRPr sz="1200"/>
          </a:p>
          <a:p>
            <a:pPr indent="-213359" lvl="0" marL="274320" rtl="0" algn="l">
              <a:spcBef>
                <a:spcPts val="0"/>
              </a:spcBef>
              <a:spcAft>
                <a:spcPts val="0"/>
              </a:spcAft>
              <a:buSzPts val="1200"/>
              <a:buChar char="●"/>
            </a:pPr>
            <a:r>
              <a:rPr b="1" lang="en" sz="1200"/>
              <a:t>Ambiguous or weaker relationships:</a:t>
            </a:r>
            <a:endParaRPr b="1" sz="1200"/>
          </a:p>
          <a:p>
            <a:pPr indent="-213359" lvl="1" marL="548640" rtl="0" algn="l">
              <a:spcBef>
                <a:spcPts val="0"/>
              </a:spcBef>
              <a:spcAft>
                <a:spcPts val="0"/>
              </a:spcAft>
              <a:buSzPts val="1200"/>
              <a:buChar char="○"/>
            </a:pPr>
            <a:r>
              <a:rPr b="1" lang="en" sz="1200"/>
              <a:t>Age</a:t>
            </a:r>
            <a:endParaRPr b="1" sz="1200"/>
          </a:p>
          <a:p>
            <a:pPr indent="-213359" lvl="1" marL="548640" rtl="0" algn="l">
              <a:spcBef>
                <a:spcPts val="0"/>
              </a:spcBef>
              <a:spcAft>
                <a:spcPts val="0"/>
              </a:spcAft>
              <a:buSzPts val="1200"/>
              <a:buChar char="○"/>
            </a:pPr>
            <a:r>
              <a:rPr b="1" lang="en" sz="1200"/>
              <a:t>Parch and Sibsp</a:t>
            </a:r>
            <a:endParaRPr b="1" sz="1200"/>
          </a:p>
          <a:p>
            <a:pPr indent="-213359" lvl="1" marL="548640" rtl="0" algn="l">
              <a:spcBef>
                <a:spcPts val="0"/>
              </a:spcBef>
              <a:spcAft>
                <a:spcPts val="0"/>
              </a:spcAft>
              <a:buSzPts val="1200"/>
              <a:buChar char="○"/>
            </a:pPr>
            <a:r>
              <a:rPr b="1" lang="en" sz="1200"/>
              <a:t>Embarked (C,Q,S)</a:t>
            </a:r>
            <a:endParaRPr sz="1200"/>
          </a:p>
        </p:txBody>
      </p:sp>
      <p:pic>
        <p:nvPicPr>
          <p:cNvPr id="160" name="Google Shape;160;p21"/>
          <p:cNvPicPr preferRelativeResize="0"/>
          <p:nvPr/>
        </p:nvPicPr>
        <p:blipFill>
          <a:blip r:embed="rId3">
            <a:alphaModFix/>
          </a:blip>
          <a:stretch>
            <a:fillRect/>
          </a:stretch>
        </p:blipFill>
        <p:spPr>
          <a:xfrm>
            <a:off x="4393055" y="716086"/>
            <a:ext cx="4677626" cy="4291900"/>
          </a:xfrm>
          <a:prstGeom prst="rect">
            <a:avLst/>
          </a:prstGeom>
          <a:noFill/>
          <a:ln>
            <a:noFill/>
          </a:ln>
        </p:spPr>
      </p:pic>
      <p:sp>
        <p:nvSpPr>
          <p:cNvPr id="161" name="Google Shape;161;p21"/>
          <p:cNvSpPr txBox="1"/>
          <p:nvPr>
            <p:ph idx="4294967295" type="body"/>
          </p:nvPr>
        </p:nvSpPr>
        <p:spPr>
          <a:xfrm>
            <a:off x="311700" y="3579074"/>
            <a:ext cx="4016100" cy="13929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213359" lvl="0" marL="274320" rtl="0" algn="l">
              <a:spcBef>
                <a:spcPts val="0"/>
              </a:spcBef>
              <a:spcAft>
                <a:spcPts val="0"/>
              </a:spcAft>
              <a:buSzPts val="1200"/>
              <a:buChar char="●"/>
            </a:pPr>
            <a:r>
              <a:rPr lang="en" sz="1200"/>
              <a:t>Strong correlations among the dummy variables (C,Q,S) reflect that a passenger can only belong to one port category.</a:t>
            </a:r>
            <a:endParaRPr sz="1200"/>
          </a:p>
          <a:p>
            <a:pPr indent="-213359" lvl="0" marL="274320" rtl="0" algn="l">
              <a:spcBef>
                <a:spcPts val="0"/>
              </a:spcBef>
              <a:spcAft>
                <a:spcPts val="0"/>
              </a:spcAft>
              <a:buSzPts val="1200"/>
              <a:buChar char="●"/>
            </a:pPr>
            <a:r>
              <a:rPr b="1" lang="en" sz="1200"/>
              <a:t>SibSp</a:t>
            </a:r>
            <a:r>
              <a:rPr lang="en" sz="1200"/>
              <a:t> and </a:t>
            </a:r>
            <a:r>
              <a:rPr b="1" lang="en" sz="1200"/>
              <a:t>Parch</a:t>
            </a:r>
            <a:r>
              <a:rPr lang="en" sz="1200"/>
              <a:t> show mixed signals: they correlate with each other but weakly with survival, suggesting family size influences survival in complex ways.</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idx="4294967295" type="body"/>
          </p:nvPr>
        </p:nvSpPr>
        <p:spPr>
          <a:xfrm>
            <a:off x="311700" y="928000"/>
            <a:ext cx="8520600" cy="682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H₀: </a:t>
            </a:r>
            <a:r>
              <a:rPr lang="en" sz="1600"/>
              <a:t>The mean age of survivors </a:t>
            </a:r>
            <a:r>
              <a:rPr b="1" lang="en" sz="1600"/>
              <a:t>equals</a:t>
            </a:r>
            <a:r>
              <a:rPr lang="en" sz="1600"/>
              <a:t> the mean SibSp of non-survivors.</a:t>
            </a:r>
            <a:br>
              <a:rPr lang="en" sz="1600"/>
            </a:br>
            <a:r>
              <a:rPr lang="en" sz="1600"/>
              <a:t>H</a:t>
            </a:r>
            <a:r>
              <a:rPr baseline="-25000" lang="en" sz="1600"/>
              <a:t>1</a:t>
            </a:r>
            <a:r>
              <a:rPr lang="en" sz="1600"/>
              <a:t>: The mean age of survivors </a:t>
            </a:r>
            <a:r>
              <a:rPr b="1" lang="en" sz="1600"/>
              <a:t>differs</a:t>
            </a:r>
            <a:r>
              <a:rPr lang="en" sz="1600"/>
              <a:t> from the mean SibSp of non-survivors.</a:t>
            </a:r>
            <a:endParaRPr sz="1600"/>
          </a:p>
        </p:txBody>
      </p:sp>
      <p:pic>
        <p:nvPicPr>
          <p:cNvPr id="167" name="Google Shape;167;p22" title="Screenshot 2025-12-09 at 18.48.53.png"/>
          <p:cNvPicPr preferRelativeResize="0"/>
          <p:nvPr/>
        </p:nvPicPr>
        <p:blipFill>
          <a:blip r:embed="rId3">
            <a:alphaModFix/>
          </a:blip>
          <a:stretch>
            <a:fillRect/>
          </a:stretch>
        </p:blipFill>
        <p:spPr>
          <a:xfrm>
            <a:off x="311700" y="1610871"/>
            <a:ext cx="8520602" cy="2750036"/>
          </a:xfrm>
          <a:prstGeom prst="rect">
            <a:avLst/>
          </a:prstGeom>
          <a:noFill/>
          <a:ln>
            <a:noFill/>
          </a:ln>
        </p:spPr>
      </p:pic>
      <p:sp>
        <p:nvSpPr>
          <p:cNvPr id="168" name="Google Shape;168;p22"/>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Statistical Test</a:t>
            </a:r>
            <a:endParaRPr/>
          </a:p>
        </p:txBody>
      </p:sp>
      <p:sp>
        <p:nvSpPr>
          <p:cNvPr id="169" name="Google Shape;169;p22"/>
          <p:cNvSpPr txBox="1"/>
          <p:nvPr>
            <p:ph idx="4294967295" type="body"/>
          </p:nvPr>
        </p:nvSpPr>
        <p:spPr>
          <a:xfrm>
            <a:off x="311675" y="4304030"/>
            <a:ext cx="8520600" cy="802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At a significance level of α=0.05, we fail to reject H₀. There is no statistically significant difference in mean age between survivors and non-survivors in this dataset.</a:t>
            </a:r>
            <a:endParaRPr sz="1600"/>
          </a:p>
        </p:txBody>
      </p:sp>
      <p:sp>
        <p:nvSpPr>
          <p:cNvPr id="170" name="Google Shape;170;p22"/>
          <p:cNvSpPr txBox="1"/>
          <p:nvPr>
            <p:ph idx="4294967295" type="body"/>
          </p:nvPr>
        </p:nvSpPr>
        <p:spPr>
          <a:xfrm>
            <a:off x="7760075" y="459350"/>
            <a:ext cx="1072200" cy="5091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1600"/>
              </a:spcAft>
              <a:buNone/>
            </a:pPr>
            <a:r>
              <a:rPr lang="en">
                <a:solidFill>
                  <a:schemeClr val="lt1"/>
                </a:solidFill>
              </a:rPr>
              <a:t>‘</a:t>
            </a:r>
            <a:r>
              <a:rPr b="1" lang="en">
                <a:solidFill>
                  <a:schemeClr val="lt1"/>
                </a:solidFill>
              </a:rPr>
              <a:t>Age’ </a:t>
            </a:r>
            <a:r>
              <a:rPr lang="en">
                <a:solidFill>
                  <a:schemeClr val="lt1"/>
                </a:solidFill>
              </a:rPr>
              <a:t> </a:t>
            </a:r>
            <a:endParaRPr sz="2100">
              <a:solidFill>
                <a:schemeClr val="lt1"/>
              </a:solidFill>
            </a:endParaRPr>
          </a:p>
        </p:txBody>
      </p:sp>
      <p:sp>
        <p:nvSpPr>
          <p:cNvPr id="171" name="Google Shape;171;p22"/>
          <p:cNvSpPr/>
          <p:nvPr/>
        </p:nvSpPr>
        <p:spPr>
          <a:xfrm>
            <a:off x="7760075" y="215000"/>
            <a:ext cx="1072200" cy="997800"/>
          </a:xfrm>
          <a:prstGeom prst="noSmoking">
            <a:avLst>
              <a:gd fmla="val 18750"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23" title="Screenshot 2025-12-09 at 19.36.02.png"/>
          <p:cNvPicPr preferRelativeResize="0"/>
          <p:nvPr/>
        </p:nvPicPr>
        <p:blipFill>
          <a:blip r:embed="rId3">
            <a:alphaModFix/>
          </a:blip>
          <a:stretch>
            <a:fillRect/>
          </a:stretch>
        </p:blipFill>
        <p:spPr>
          <a:xfrm>
            <a:off x="313300" y="1635050"/>
            <a:ext cx="8520602" cy="2751833"/>
          </a:xfrm>
          <a:prstGeom prst="rect">
            <a:avLst/>
          </a:prstGeom>
          <a:noFill/>
          <a:ln>
            <a:noFill/>
          </a:ln>
        </p:spPr>
      </p:pic>
      <p:sp>
        <p:nvSpPr>
          <p:cNvPr id="177" name="Google Shape;177;p23"/>
          <p:cNvSpPr txBox="1"/>
          <p:nvPr>
            <p:ph idx="4294967295" type="body"/>
          </p:nvPr>
        </p:nvSpPr>
        <p:spPr>
          <a:xfrm>
            <a:off x="311700" y="928000"/>
            <a:ext cx="8520600" cy="682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H₀: The mean Parch of survivors </a:t>
            </a:r>
            <a:r>
              <a:rPr b="1" lang="en" sz="1600"/>
              <a:t>equals</a:t>
            </a:r>
            <a:r>
              <a:rPr lang="en" sz="1600"/>
              <a:t> the mean Parch of non-survivors.</a:t>
            </a:r>
            <a:br>
              <a:rPr lang="en" sz="1600"/>
            </a:br>
            <a:r>
              <a:rPr lang="en" sz="1600"/>
              <a:t>H</a:t>
            </a:r>
            <a:r>
              <a:rPr baseline="-25000" lang="en" sz="1600"/>
              <a:t>1</a:t>
            </a:r>
            <a:r>
              <a:rPr lang="en" sz="1600"/>
              <a:t>: The mean Parch of survivors </a:t>
            </a:r>
            <a:r>
              <a:rPr b="1" lang="en" sz="1600"/>
              <a:t>differs</a:t>
            </a:r>
            <a:r>
              <a:rPr lang="en" sz="1600"/>
              <a:t> from the mean Parch of non-survivors.</a:t>
            </a:r>
            <a:endParaRPr sz="1600"/>
          </a:p>
        </p:txBody>
      </p:sp>
      <p:sp>
        <p:nvSpPr>
          <p:cNvPr id="178" name="Google Shape;178;p2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Statistical Test</a:t>
            </a:r>
            <a:endParaRPr/>
          </a:p>
        </p:txBody>
      </p:sp>
      <p:sp>
        <p:nvSpPr>
          <p:cNvPr id="179" name="Google Shape;179;p23"/>
          <p:cNvSpPr txBox="1"/>
          <p:nvPr>
            <p:ph idx="4294967295" type="body"/>
          </p:nvPr>
        </p:nvSpPr>
        <p:spPr>
          <a:xfrm>
            <a:off x="311675" y="4304030"/>
            <a:ext cx="8520600" cy="802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At a significance level of α=0.05, we </a:t>
            </a:r>
            <a:r>
              <a:rPr b="1" lang="en" sz="1600"/>
              <a:t>reject</a:t>
            </a:r>
            <a:r>
              <a:rPr lang="en" sz="1600"/>
              <a:t> H₀ and conclude that </a:t>
            </a:r>
            <a:r>
              <a:rPr lang="en" sz="1600"/>
              <a:t>traveling with parents/children is associated with higher survival odds.</a:t>
            </a:r>
            <a:endParaRPr sz="1600"/>
          </a:p>
        </p:txBody>
      </p:sp>
      <p:sp>
        <p:nvSpPr>
          <p:cNvPr id="180" name="Google Shape;180;p23"/>
          <p:cNvSpPr txBox="1"/>
          <p:nvPr>
            <p:ph idx="4294967295" type="body"/>
          </p:nvPr>
        </p:nvSpPr>
        <p:spPr>
          <a:xfrm>
            <a:off x="7760075" y="459350"/>
            <a:ext cx="1072200" cy="5091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1600"/>
              </a:spcAft>
              <a:buNone/>
            </a:pPr>
            <a:r>
              <a:rPr lang="en">
                <a:solidFill>
                  <a:schemeClr val="lt1"/>
                </a:solidFill>
              </a:rPr>
              <a:t>‘</a:t>
            </a:r>
            <a:r>
              <a:rPr b="1" lang="en">
                <a:solidFill>
                  <a:schemeClr val="lt1"/>
                </a:solidFill>
              </a:rPr>
              <a:t>Parch</a:t>
            </a:r>
            <a:r>
              <a:rPr b="1" lang="en">
                <a:solidFill>
                  <a:schemeClr val="lt1"/>
                </a:solidFill>
              </a:rPr>
              <a:t>’ </a:t>
            </a:r>
            <a:r>
              <a:rPr lang="en">
                <a:solidFill>
                  <a:schemeClr val="lt1"/>
                </a:solidFill>
              </a:rPr>
              <a:t> </a:t>
            </a:r>
            <a:endParaRPr sz="2100">
              <a:solidFill>
                <a:schemeClr val="lt1"/>
              </a:solidFill>
            </a:endParaRPr>
          </a:p>
        </p:txBody>
      </p:sp>
      <p:sp>
        <p:nvSpPr>
          <p:cNvPr id="181" name="Google Shape;181;p23"/>
          <p:cNvSpPr/>
          <p:nvPr/>
        </p:nvSpPr>
        <p:spPr>
          <a:xfrm>
            <a:off x="7761275" y="215600"/>
            <a:ext cx="1069800" cy="996600"/>
          </a:xfrm>
          <a:prstGeom prst="donut">
            <a:avLst>
              <a:gd fmla="val 25000"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idx="4294967295" type="body"/>
          </p:nvPr>
        </p:nvSpPr>
        <p:spPr>
          <a:xfrm>
            <a:off x="311700" y="928000"/>
            <a:ext cx="8520600" cy="682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H₀: The mean SibSp of survivors </a:t>
            </a:r>
            <a:r>
              <a:rPr b="1" lang="en" sz="1600"/>
              <a:t>equals</a:t>
            </a:r>
            <a:r>
              <a:rPr lang="en" sz="1600"/>
              <a:t> the mean SibSp of non-survivors.</a:t>
            </a:r>
            <a:br>
              <a:rPr lang="en" sz="1600"/>
            </a:br>
            <a:r>
              <a:rPr lang="en" sz="1600"/>
              <a:t>H</a:t>
            </a:r>
            <a:r>
              <a:rPr baseline="-25000" lang="en" sz="1600"/>
              <a:t>1</a:t>
            </a:r>
            <a:r>
              <a:rPr lang="en" sz="1600"/>
              <a:t>: The mean SibSp of survivors </a:t>
            </a:r>
            <a:r>
              <a:rPr b="1" lang="en" sz="1600"/>
              <a:t>differs</a:t>
            </a:r>
            <a:r>
              <a:rPr lang="en" sz="1600"/>
              <a:t> from the mean SibSp of non-survivors.</a:t>
            </a:r>
            <a:endParaRPr sz="1600"/>
          </a:p>
        </p:txBody>
      </p:sp>
      <p:sp>
        <p:nvSpPr>
          <p:cNvPr id="187" name="Google Shape;187;p2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Statistical Test</a:t>
            </a:r>
            <a:endParaRPr/>
          </a:p>
        </p:txBody>
      </p:sp>
      <p:sp>
        <p:nvSpPr>
          <p:cNvPr id="188" name="Google Shape;188;p24"/>
          <p:cNvSpPr txBox="1"/>
          <p:nvPr>
            <p:ph idx="4294967295" type="body"/>
          </p:nvPr>
        </p:nvSpPr>
        <p:spPr>
          <a:xfrm>
            <a:off x="311675" y="4229821"/>
            <a:ext cx="8520600" cy="864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500"/>
              <a:t>The p-value is approximately 0.93, which is far greater than 0.05. W</a:t>
            </a:r>
            <a:r>
              <a:rPr lang="en" sz="1500"/>
              <a:t>e fail to reject H₀. </a:t>
            </a:r>
            <a:r>
              <a:rPr lang="en" sz="1500"/>
              <a:t>This suggests that there is no statistically significant difference in the average number of siblings/spouses between those who survived and those who did not.</a:t>
            </a:r>
            <a:endParaRPr sz="1500"/>
          </a:p>
        </p:txBody>
      </p:sp>
      <p:sp>
        <p:nvSpPr>
          <p:cNvPr id="189" name="Google Shape;189;p24"/>
          <p:cNvSpPr txBox="1"/>
          <p:nvPr>
            <p:ph idx="4294967295" type="body"/>
          </p:nvPr>
        </p:nvSpPr>
        <p:spPr>
          <a:xfrm>
            <a:off x="7760075" y="459350"/>
            <a:ext cx="1072200" cy="509100"/>
          </a:xfrm>
          <a:prstGeom prst="rect">
            <a:avLst/>
          </a:prstGeom>
          <a:solidFill>
            <a:schemeClr val="accent6"/>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1600"/>
              </a:spcAft>
              <a:buNone/>
            </a:pPr>
            <a:r>
              <a:rPr lang="en">
                <a:solidFill>
                  <a:schemeClr val="lt1"/>
                </a:solidFill>
              </a:rPr>
              <a:t>‘</a:t>
            </a:r>
            <a:r>
              <a:rPr b="1" lang="en">
                <a:solidFill>
                  <a:schemeClr val="lt1"/>
                </a:solidFill>
              </a:rPr>
              <a:t>Sibsp</a:t>
            </a:r>
            <a:r>
              <a:rPr b="1" lang="en">
                <a:solidFill>
                  <a:schemeClr val="lt1"/>
                </a:solidFill>
              </a:rPr>
              <a:t>’ </a:t>
            </a:r>
            <a:r>
              <a:rPr lang="en">
                <a:solidFill>
                  <a:schemeClr val="lt1"/>
                </a:solidFill>
              </a:rPr>
              <a:t> </a:t>
            </a:r>
            <a:endParaRPr sz="2100">
              <a:solidFill>
                <a:schemeClr val="lt1"/>
              </a:solidFill>
            </a:endParaRPr>
          </a:p>
        </p:txBody>
      </p:sp>
      <p:pic>
        <p:nvPicPr>
          <p:cNvPr id="190" name="Google Shape;190;p24" title="Screenshot 2025-12-09 at 19.01.47.png"/>
          <p:cNvPicPr preferRelativeResize="0"/>
          <p:nvPr/>
        </p:nvPicPr>
        <p:blipFill>
          <a:blip r:embed="rId3">
            <a:alphaModFix/>
          </a:blip>
          <a:stretch>
            <a:fillRect/>
          </a:stretch>
        </p:blipFill>
        <p:spPr>
          <a:xfrm>
            <a:off x="311700" y="1586060"/>
            <a:ext cx="8522209" cy="2752343"/>
          </a:xfrm>
          <a:prstGeom prst="rect">
            <a:avLst/>
          </a:prstGeom>
          <a:noFill/>
          <a:ln>
            <a:noFill/>
          </a:ln>
        </p:spPr>
      </p:pic>
      <p:sp>
        <p:nvSpPr>
          <p:cNvPr id="191" name="Google Shape;191;p24"/>
          <p:cNvSpPr/>
          <p:nvPr/>
        </p:nvSpPr>
        <p:spPr>
          <a:xfrm>
            <a:off x="7760075" y="215000"/>
            <a:ext cx="1072200" cy="997800"/>
          </a:xfrm>
          <a:prstGeom prst="noSmoking">
            <a:avLst>
              <a:gd fmla="val 18750"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Causal</a:t>
            </a:r>
            <a:r>
              <a:rPr lang="en"/>
              <a:t> Interpretation</a:t>
            </a:r>
            <a:endParaRPr/>
          </a:p>
        </p:txBody>
      </p:sp>
      <p:grpSp>
        <p:nvGrpSpPr>
          <p:cNvPr id="197" name="Google Shape;197;p25"/>
          <p:cNvGrpSpPr/>
          <p:nvPr/>
        </p:nvGrpSpPr>
        <p:grpSpPr>
          <a:xfrm>
            <a:off x="431925" y="1099884"/>
            <a:ext cx="2628925" cy="3735833"/>
            <a:chOff x="431925" y="1304875"/>
            <a:chExt cx="2628925" cy="3416400"/>
          </a:xfrm>
        </p:grpSpPr>
        <p:sp>
          <p:nvSpPr>
            <p:cNvPr id="198" name="Google Shape;198;p25"/>
            <p:cNvSpPr txBox="1"/>
            <p:nvPr/>
          </p:nvSpPr>
          <p:spPr>
            <a:xfrm>
              <a:off x="431925"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5"/>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 name="Google Shape;200;p25"/>
          <p:cNvSpPr txBox="1"/>
          <p:nvPr>
            <p:ph idx="4294967295" type="body"/>
          </p:nvPr>
        </p:nvSpPr>
        <p:spPr>
          <a:xfrm>
            <a:off x="506425" y="1099907"/>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rPr>
              <a:t>Selection Bias</a:t>
            </a:r>
            <a:endParaRPr b="1" sz="1700">
              <a:solidFill>
                <a:schemeClr val="lt1"/>
              </a:solidFill>
            </a:endParaRPr>
          </a:p>
        </p:txBody>
      </p:sp>
      <p:sp>
        <p:nvSpPr>
          <p:cNvPr id="201" name="Google Shape;201;p25"/>
          <p:cNvSpPr txBox="1"/>
          <p:nvPr>
            <p:ph idx="4294967295" type="body"/>
          </p:nvPr>
        </p:nvSpPr>
        <p:spPr>
          <a:xfrm>
            <a:off x="508325" y="1599428"/>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Passengers differed systematically in wealth, cabin location, and travel companions. Therefore, differences in survival across Pclass and Fare reflect pre-existing differences, not the causal effect of class.</a:t>
            </a:r>
            <a:endParaRPr sz="1600"/>
          </a:p>
        </p:txBody>
      </p:sp>
      <p:grpSp>
        <p:nvGrpSpPr>
          <p:cNvPr id="202" name="Google Shape;202;p25"/>
          <p:cNvGrpSpPr/>
          <p:nvPr/>
        </p:nvGrpSpPr>
        <p:grpSpPr>
          <a:xfrm>
            <a:off x="3320450" y="1099893"/>
            <a:ext cx="2632500" cy="3735833"/>
            <a:chOff x="3320450" y="1304875"/>
            <a:chExt cx="2632500" cy="3416400"/>
          </a:xfrm>
        </p:grpSpPr>
        <p:sp>
          <p:nvSpPr>
            <p:cNvPr id="203" name="Google Shape;203;p25"/>
            <p:cNvSpPr txBox="1"/>
            <p:nvPr/>
          </p:nvSpPr>
          <p:spPr>
            <a:xfrm>
              <a:off x="3324050"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5"/>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 name="Google Shape;205;p25"/>
          <p:cNvSpPr txBox="1"/>
          <p:nvPr>
            <p:ph idx="4294967295" type="body"/>
          </p:nvPr>
        </p:nvSpPr>
        <p:spPr>
          <a:xfrm>
            <a:off x="3389450" y="1099907"/>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rPr>
              <a:t>Confounding Variables</a:t>
            </a:r>
            <a:endParaRPr b="1" sz="1700">
              <a:solidFill>
                <a:schemeClr val="lt1"/>
              </a:solidFill>
            </a:endParaRPr>
          </a:p>
        </p:txBody>
      </p:sp>
      <p:sp>
        <p:nvSpPr>
          <p:cNvPr id="206" name="Google Shape;206;p25"/>
          <p:cNvSpPr txBox="1"/>
          <p:nvPr>
            <p:ph idx="4294967295" type="body"/>
          </p:nvPr>
        </p:nvSpPr>
        <p:spPr>
          <a:xfrm>
            <a:off x="3396775" y="1599425"/>
            <a:ext cx="2478600" cy="3150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Sex, Age, Pclass, and Fare are intertwined with social norms (eg. “Women and children first" policy), group travel behavior, and ship layout. These confounders affect both the “treatment” variables and survival, making correlations non-causal.</a:t>
            </a:r>
            <a:endParaRPr sz="1600"/>
          </a:p>
        </p:txBody>
      </p:sp>
      <p:grpSp>
        <p:nvGrpSpPr>
          <p:cNvPr id="207" name="Google Shape;207;p25"/>
          <p:cNvGrpSpPr/>
          <p:nvPr/>
        </p:nvGrpSpPr>
        <p:grpSpPr>
          <a:xfrm>
            <a:off x="6212550" y="1099903"/>
            <a:ext cx="2632500" cy="3735833"/>
            <a:chOff x="6212550" y="1304875"/>
            <a:chExt cx="2632500" cy="3416400"/>
          </a:xfrm>
        </p:grpSpPr>
        <p:sp>
          <p:nvSpPr>
            <p:cNvPr id="208" name="Google Shape;208;p25"/>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5"/>
            <p:cNvSpPr txBox="1"/>
            <p:nvPr/>
          </p:nvSpPr>
          <p:spPr>
            <a:xfrm>
              <a:off x="6212550" y="1304875"/>
              <a:ext cx="26325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 name="Google Shape;210;p25"/>
          <p:cNvSpPr txBox="1"/>
          <p:nvPr>
            <p:ph idx="4294967295" type="body"/>
          </p:nvPr>
        </p:nvSpPr>
        <p:spPr>
          <a:xfrm>
            <a:off x="6272475" y="1099907"/>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rPr>
              <a:t>Correlation ≠ Causation</a:t>
            </a:r>
            <a:endParaRPr b="1" sz="1700">
              <a:solidFill>
                <a:schemeClr val="lt1"/>
              </a:solidFill>
            </a:endParaRPr>
          </a:p>
        </p:txBody>
      </p:sp>
      <p:sp>
        <p:nvSpPr>
          <p:cNvPr id="211" name="Google Shape;211;p25"/>
          <p:cNvSpPr txBox="1"/>
          <p:nvPr>
            <p:ph idx="4294967295" type="body"/>
          </p:nvPr>
        </p:nvSpPr>
        <p:spPr>
          <a:xfrm>
            <a:off x="6286400" y="1599425"/>
            <a:ext cx="2478600" cy="2918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Strong associations (Sex, Pclass) cannot be interpreted causally, and weak correlations (Age) do not imply no causal effect. The data is observational, so correlation only describes patterns, not mechanisms.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Predictive</a:t>
            </a:r>
            <a:r>
              <a:rPr lang="en"/>
              <a:t> Model - Logistic Regression</a:t>
            </a:r>
            <a:endParaRPr/>
          </a:p>
        </p:txBody>
      </p:sp>
      <p:sp>
        <p:nvSpPr>
          <p:cNvPr id="217" name="Google Shape;217;p26"/>
          <p:cNvSpPr txBox="1"/>
          <p:nvPr>
            <p:ph idx="4294967295" type="body"/>
          </p:nvPr>
        </p:nvSpPr>
        <p:spPr>
          <a:xfrm>
            <a:off x="311700" y="1015450"/>
            <a:ext cx="8520600" cy="38412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AutoNum type="arabicPeriod"/>
            </a:pPr>
            <a:r>
              <a:rPr lang="en" sz="1700"/>
              <a:t>Prepare F</a:t>
            </a:r>
            <a:r>
              <a:rPr lang="en" sz="1700"/>
              <a:t>eatures</a:t>
            </a:r>
            <a:r>
              <a:rPr lang="en" sz="1700"/>
              <a:t>: </a:t>
            </a:r>
            <a:br>
              <a:rPr lang="en" sz="1700"/>
            </a:br>
            <a:endParaRPr sz="1700"/>
          </a:p>
          <a:p>
            <a:pPr indent="0" lvl="0" marL="0" rtl="0" algn="l">
              <a:spcBef>
                <a:spcPts val="1600"/>
              </a:spcBef>
              <a:spcAft>
                <a:spcPts val="0"/>
              </a:spcAft>
              <a:buNone/>
            </a:pPr>
            <a:br>
              <a:rPr lang="en" sz="1700"/>
            </a:br>
            <a:endParaRPr sz="1700"/>
          </a:p>
          <a:p>
            <a:pPr indent="-336550" lvl="0" marL="457200" rtl="0" algn="l">
              <a:spcBef>
                <a:spcPts val="1600"/>
              </a:spcBef>
              <a:spcAft>
                <a:spcPts val="0"/>
              </a:spcAft>
              <a:buSzPts val="1700"/>
              <a:buAutoNum type="arabicPeriod"/>
            </a:pPr>
            <a:r>
              <a:rPr lang="en" sz="1700"/>
              <a:t>Train-Test Split: 80% - 20%</a:t>
            </a:r>
            <a:endParaRPr sz="1700"/>
          </a:p>
          <a:p>
            <a:pPr indent="-336550" lvl="0" marL="457200" rtl="0" algn="l">
              <a:spcBef>
                <a:spcPts val="0"/>
              </a:spcBef>
              <a:spcAft>
                <a:spcPts val="0"/>
              </a:spcAft>
              <a:buSzPts val="1700"/>
              <a:buAutoNum type="arabicPeriod"/>
            </a:pPr>
            <a:r>
              <a:rPr lang="en" sz="1700"/>
              <a:t>Train Logistic Regression Model:</a:t>
            </a:r>
            <a:endParaRPr sz="1700"/>
          </a:p>
        </p:txBody>
      </p:sp>
      <p:pic>
        <p:nvPicPr>
          <p:cNvPr id="218" name="Google Shape;218;p26" title="Screenshot 2025-12-09 at 19.39.18.png"/>
          <p:cNvPicPr preferRelativeResize="0"/>
          <p:nvPr/>
        </p:nvPicPr>
        <p:blipFill>
          <a:blip r:embed="rId3">
            <a:alphaModFix/>
          </a:blip>
          <a:stretch>
            <a:fillRect/>
          </a:stretch>
        </p:blipFill>
        <p:spPr>
          <a:xfrm>
            <a:off x="840450" y="1328475"/>
            <a:ext cx="7862497" cy="1424325"/>
          </a:xfrm>
          <a:prstGeom prst="rect">
            <a:avLst/>
          </a:prstGeom>
          <a:noFill/>
          <a:ln>
            <a:noFill/>
          </a:ln>
        </p:spPr>
      </p:pic>
      <p:pic>
        <p:nvPicPr>
          <p:cNvPr id="219" name="Google Shape;219;p26" title="Screenshot 2025-12-09 at 19.40.40.png"/>
          <p:cNvPicPr preferRelativeResize="0"/>
          <p:nvPr/>
        </p:nvPicPr>
        <p:blipFill>
          <a:blip r:embed="rId4">
            <a:alphaModFix/>
          </a:blip>
          <a:stretch>
            <a:fillRect/>
          </a:stretch>
        </p:blipFill>
        <p:spPr>
          <a:xfrm>
            <a:off x="840450" y="3340088"/>
            <a:ext cx="7862502" cy="15164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Predictive Model - Logistic Regression</a:t>
            </a:r>
            <a:endParaRPr/>
          </a:p>
        </p:txBody>
      </p:sp>
      <p:pic>
        <p:nvPicPr>
          <p:cNvPr id="225" name="Google Shape;225;p27" title="Screenshot 2025-12-09 at 19.46.21.png"/>
          <p:cNvPicPr preferRelativeResize="0"/>
          <p:nvPr/>
        </p:nvPicPr>
        <p:blipFill>
          <a:blip r:embed="rId3">
            <a:alphaModFix/>
          </a:blip>
          <a:stretch>
            <a:fillRect/>
          </a:stretch>
        </p:blipFill>
        <p:spPr>
          <a:xfrm>
            <a:off x="311700" y="1060750"/>
            <a:ext cx="8476549" cy="2611674"/>
          </a:xfrm>
          <a:prstGeom prst="rect">
            <a:avLst/>
          </a:prstGeom>
          <a:noFill/>
          <a:ln>
            <a:noFill/>
          </a:ln>
        </p:spPr>
      </p:pic>
      <p:sp>
        <p:nvSpPr>
          <p:cNvPr id="226" name="Google Shape;226;p27"/>
          <p:cNvSpPr txBox="1"/>
          <p:nvPr>
            <p:ph idx="4294967295" type="body"/>
          </p:nvPr>
        </p:nvSpPr>
        <p:spPr>
          <a:xfrm>
            <a:off x="289675" y="3672425"/>
            <a:ext cx="8520600" cy="1383300"/>
          </a:xfrm>
          <a:prstGeom prst="rect">
            <a:avLst/>
          </a:prstGeom>
          <a:solidFill>
            <a:srgbClr val="DADCE0"/>
          </a:solidFill>
        </p:spPr>
        <p:txBody>
          <a:bodyPr anchorCtr="0" anchor="t" bIns="91425" lIns="91425" spcFirstLastPara="1" rIns="91425" wrap="square" tIns="91425">
            <a:noAutofit/>
          </a:bodyPr>
          <a:lstStyle/>
          <a:p>
            <a:pPr indent="-226059" lvl="0" marL="274320" rtl="0" algn="l">
              <a:spcBef>
                <a:spcPts val="0"/>
              </a:spcBef>
              <a:spcAft>
                <a:spcPts val="0"/>
              </a:spcAft>
              <a:buSzPts val="1400"/>
              <a:buChar char="●"/>
            </a:pPr>
            <a:r>
              <a:rPr b="1" lang="en" sz="1400"/>
              <a:t>Sex_num</a:t>
            </a:r>
            <a:r>
              <a:rPr lang="en" sz="1400"/>
              <a:t> has the largest negative coefficient, meaning the trained model learns that being male drastically reduces the predicted odds of survival.</a:t>
            </a:r>
            <a:endParaRPr sz="1400"/>
          </a:p>
          <a:p>
            <a:pPr indent="-226059" lvl="0" marL="274320" rtl="0" algn="l">
              <a:spcBef>
                <a:spcPts val="0"/>
              </a:spcBef>
              <a:spcAft>
                <a:spcPts val="0"/>
              </a:spcAft>
              <a:buSzPts val="1400"/>
              <a:buChar char="●"/>
            </a:pPr>
            <a:r>
              <a:rPr b="1" lang="en" sz="1400"/>
              <a:t>Pclass</a:t>
            </a:r>
            <a:r>
              <a:rPr lang="en" sz="1400"/>
              <a:t> has a strong negative effect, indicating the model identifies lower-class passengers as significantly less likely to survive.</a:t>
            </a:r>
            <a:endParaRPr sz="1400"/>
          </a:p>
          <a:p>
            <a:pPr indent="-226059" lvl="0" marL="274320" rtl="0" algn="l">
              <a:spcBef>
                <a:spcPts val="0"/>
              </a:spcBef>
              <a:spcAft>
                <a:spcPts val="0"/>
              </a:spcAft>
              <a:buSzPts val="1400"/>
              <a:buChar char="●"/>
            </a:pPr>
            <a:r>
              <a:rPr b="1" lang="en" sz="1400"/>
              <a:t>Parch, Embarked indicators (C,S)</a:t>
            </a:r>
            <a:r>
              <a:rPr lang="en" sz="1400"/>
              <a:t> and </a:t>
            </a:r>
            <a:r>
              <a:rPr b="1" lang="en" sz="1400"/>
              <a:t>Fare</a:t>
            </a:r>
            <a:r>
              <a:rPr lang="en" sz="1400"/>
              <a:t> contribute weakly</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Predictive Model</a:t>
            </a:r>
            <a:endParaRPr/>
          </a:p>
        </p:txBody>
      </p:sp>
      <p:pic>
        <p:nvPicPr>
          <p:cNvPr id="232" name="Google Shape;232;p28"/>
          <p:cNvPicPr preferRelativeResize="0"/>
          <p:nvPr/>
        </p:nvPicPr>
        <p:blipFill>
          <a:blip r:embed="rId3">
            <a:alphaModFix/>
          </a:blip>
          <a:stretch>
            <a:fillRect/>
          </a:stretch>
        </p:blipFill>
        <p:spPr>
          <a:xfrm>
            <a:off x="311700" y="1132150"/>
            <a:ext cx="8520602" cy="37546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Predictive Model - Performance</a:t>
            </a:r>
            <a:endParaRPr/>
          </a:p>
        </p:txBody>
      </p:sp>
      <p:pic>
        <p:nvPicPr>
          <p:cNvPr id="238" name="Google Shape;238;p29" title="Screenshot 2025-12-09 at 19.31.36.png"/>
          <p:cNvPicPr preferRelativeResize="0"/>
          <p:nvPr/>
        </p:nvPicPr>
        <p:blipFill>
          <a:blip r:embed="rId3">
            <a:alphaModFix/>
          </a:blip>
          <a:stretch>
            <a:fillRect/>
          </a:stretch>
        </p:blipFill>
        <p:spPr>
          <a:xfrm>
            <a:off x="311700" y="1170188"/>
            <a:ext cx="4351580" cy="3820900"/>
          </a:xfrm>
          <a:prstGeom prst="rect">
            <a:avLst/>
          </a:prstGeom>
          <a:noFill/>
          <a:ln>
            <a:noFill/>
          </a:ln>
        </p:spPr>
      </p:pic>
      <p:pic>
        <p:nvPicPr>
          <p:cNvPr id="239" name="Google Shape;239;p29" title="Screenshot 2025-12-09 at 19.32.30.png"/>
          <p:cNvPicPr preferRelativeResize="0"/>
          <p:nvPr/>
        </p:nvPicPr>
        <p:blipFill>
          <a:blip r:embed="rId4">
            <a:alphaModFix/>
          </a:blip>
          <a:stretch>
            <a:fillRect/>
          </a:stretch>
        </p:blipFill>
        <p:spPr>
          <a:xfrm>
            <a:off x="4497080" y="1177375"/>
            <a:ext cx="4335219" cy="380653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